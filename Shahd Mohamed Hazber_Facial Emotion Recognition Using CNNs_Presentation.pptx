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56" r:id="rId5"/>
    <p:sldId id="258" r:id="rId6"/>
    <p:sldId id="264" r:id="rId7"/>
    <p:sldId id="259" r:id="rId8"/>
    <p:sldId id="260"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userDrawn="1">
          <p15:clr>
            <a:srgbClr val="A4A3A4"/>
          </p15:clr>
        </p15:guide>
        <p15:guide id="2" pos="3795" userDrawn="1">
          <p15:clr>
            <a:srgbClr val="A4A3A4"/>
          </p15:clr>
        </p15:guide>
        <p15:guide id="3" pos="551" userDrawn="1">
          <p15:clr>
            <a:srgbClr val="A4A3A4"/>
          </p15:clr>
        </p15:guide>
        <p15:guide id="4" pos="710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560EA"/>
    <a:srgbClr val="7E54B6"/>
    <a:srgbClr val="993D9B"/>
    <a:srgbClr val="505978"/>
    <a:srgbClr val="E6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24EDBC-9922-4E38-A3A6-BCF52B0032D3}" v="100" dt="2025-04-25T21:12:23.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69" autoAdjust="0"/>
  </p:normalViewPr>
  <p:slideViewPr>
    <p:cSldViewPr snapToGrid="0">
      <p:cViewPr varScale="1">
        <p:scale>
          <a:sx n="92" d="100"/>
          <a:sy n="92" d="100"/>
        </p:scale>
        <p:origin x="92" y="52"/>
      </p:cViewPr>
      <p:guideLst>
        <p:guide orient="horz" pos="2251"/>
        <p:guide pos="3795"/>
        <p:guide pos="551"/>
        <p:guide pos="7106"/>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2" d="100"/>
          <a:sy n="72" d="100"/>
        </p:scale>
        <p:origin x="2724" y="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A3882E-F74D-4D60-9C84-ADEBF96556A3}" type="datetimeFigureOut">
              <a:rPr lang="en-US" smtClean="0"/>
              <a:t>5/10/2025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4C6807-6947-4C07-947C-6417C160B064}" type="slidenum">
              <a:rPr lang="en-US" smtClean="0"/>
              <a:t>‹#›</a:t>
            </a:fld>
            <a:endParaRPr lang="en-US" dirty="0"/>
          </a:p>
        </p:txBody>
      </p:sp>
    </p:spTree>
    <p:extLst>
      <p:ext uri="{BB962C8B-B14F-4D97-AF65-F5344CB8AC3E}">
        <p14:creationId xmlns:p14="http://schemas.microsoft.com/office/powerpoint/2010/main" val="1995588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C6807-6947-4C07-947C-6417C160B064}" type="slidenum">
              <a:rPr lang="en-US" smtClean="0"/>
              <a:t>1</a:t>
            </a:fld>
            <a:endParaRPr lang="en-US" dirty="0"/>
          </a:p>
        </p:txBody>
      </p:sp>
    </p:spTree>
    <p:extLst>
      <p:ext uri="{BB962C8B-B14F-4D97-AF65-F5344CB8AC3E}">
        <p14:creationId xmlns:p14="http://schemas.microsoft.com/office/powerpoint/2010/main" val="353159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C6807-6947-4C07-947C-6417C160B064}" type="slidenum">
              <a:rPr lang="en-US" smtClean="0"/>
              <a:t>2</a:t>
            </a:fld>
            <a:endParaRPr lang="en-US" dirty="0"/>
          </a:p>
        </p:txBody>
      </p:sp>
    </p:spTree>
    <p:extLst>
      <p:ext uri="{BB962C8B-B14F-4D97-AF65-F5344CB8AC3E}">
        <p14:creationId xmlns:p14="http://schemas.microsoft.com/office/powerpoint/2010/main" val="1209471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report </a:t>
            </a:r>
          </a:p>
        </p:txBody>
      </p:sp>
      <p:sp>
        <p:nvSpPr>
          <p:cNvPr id="4" name="Slide Number Placeholder 3"/>
          <p:cNvSpPr>
            <a:spLocks noGrp="1"/>
          </p:cNvSpPr>
          <p:nvPr>
            <p:ph type="sldNum" sz="quarter" idx="5"/>
          </p:nvPr>
        </p:nvSpPr>
        <p:spPr/>
        <p:txBody>
          <a:bodyPr/>
          <a:lstStyle/>
          <a:p>
            <a:fld id="{A44C6807-6947-4C07-947C-6417C160B064}" type="slidenum">
              <a:rPr lang="en-US" smtClean="0"/>
              <a:t>7</a:t>
            </a:fld>
            <a:endParaRPr lang="en-US" dirty="0"/>
          </a:p>
        </p:txBody>
      </p:sp>
    </p:spTree>
    <p:extLst>
      <p:ext uri="{BB962C8B-B14F-4D97-AF65-F5344CB8AC3E}">
        <p14:creationId xmlns:p14="http://schemas.microsoft.com/office/powerpoint/2010/main" val="2713241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加一个微笑的表情</a:t>
            </a:r>
            <a:endParaRPr lang="en-US" dirty="0"/>
          </a:p>
        </p:txBody>
      </p:sp>
      <p:sp>
        <p:nvSpPr>
          <p:cNvPr id="4" name="Slide Number Placeholder 3"/>
          <p:cNvSpPr>
            <a:spLocks noGrp="1"/>
          </p:cNvSpPr>
          <p:nvPr>
            <p:ph type="sldNum" sz="quarter" idx="5"/>
          </p:nvPr>
        </p:nvSpPr>
        <p:spPr/>
        <p:txBody>
          <a:bodyPr/>
          <a:lstStyle/>
          <a:p>
            <a:fld id="{A44C6807-6947-4C07-947C-6417C160B064}" type="slidenum">
              <a:rPr lang="en-US" smtClean="0"/>
              <a:t>8</a:t>
            </a:fld>
            <a:endParaRPr lang="en-US" dirty="0"/>
          </a:p>
        </p:txBody>
      </p:sp>
    </p:spTree>
    <p:extLst>
      <p:ext uri="{BB962C8B-B14F-4D97-AF65-F5344CB8AC3E}">
        <p14:creationId xmlns:p14="http://schemas.microsoft.com/office/powerpoint/2010/main" val="283037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701164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07733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692142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507350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2574871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069789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647230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182441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951639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2649444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888A5-4B0B-4D70-9DE8-609FAFF788EF}" type="datetimeFigureOut">
              <a:rPr lang="en-US" smtClean="0"/>
              <a:t>5/10/2025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C06055-9443-4A45-BB13-E6CD7832CE8D}" type="slidenum">
              <a:rPr lang="en-US" smtClean="0"/>
              <a:t>‹#›</a:t>
            </a:fld>
            <a:endParaRPr lang="en-US" dirty="0"/>
          </a:p>
        </p:txBody>
      </p:sp>
    </p:spTree>
    <p:extLst>
      <p:ext uri="{BB962C8B-B14F-4D97-AF65-F5344CB8AC3E}">
        <p14:creationId xmlns:p14="http://schemas.microsoft.com/office/powerpoint/2010/main" val="3455202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2888A5-4B0B-4D70-9DE8-609FAFF788EF}" type="datetimeFigureOut">
              <a:rPr lang="en-US" smtClean="0"/>
              <a:t>5/10/2025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C06055-9443-4A45-BB13-E6CD7832CE8D}" type="slidenum">
              <a:rPr lang="en-US" smtClean="0"/>
              <a:t>‹#›</a:t>
            </a:fld>
            <a:endParaRPr lang="en-US" dirty="0"/>
          </a:p>
        </p:txBody>
      </p:sp>
    </p:spTree>
    <p:extLst>
      <p:ext uri="{BB962C8B-B14F-4D97-AF65-F5344CB8AC3E}">
        <p14:creationId xmlns:p14="http://schemas.microsoft.com/office/powerpoint/2010/main" val="1693702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51BBF6B9-3E5D-A62A-C066-2A97EC771532}"/>
              </a:ext>
            </a:extLst>
          </p:cNvPr>
          <p:cNvPicPr>
            <a:picLocks noChangeAspect="1"/>
          </p:cNvPicPr>
          <p:nvPr/>
        </p:nvPicPr>
        <p:blipFill>
          <a:blip r:embed="rId3">
            <a:extLst>
              <a:ext uri="{28A0092B-C50C-407E-A947-70E740481C1C}">
                <a14:useLocalDpi xmlns:a14="http://schemas.microsoft.com/office/drawing/2010/main" val="0"/>
              </a:ext>
            </a:extLst>
          </a:blip>
          <a:srcRect t="20328" b="20656"/>
          <a:stretch/>
        </p:blipFill>
        <p:spPr>
          <a:xfrm>
            <a:off x="4298469" y="0"/>
            <a:ext cx="12192000" cy="6858000"/>
          </a:xfrm>
          <a:prstGeom prst="rect">
            <a:avLst/>
          </a:prstGeom>
        </p:spPr>
      </p:pic>
      <p:sp>
        <p:nvSpPr>
          <p:cNvPr id="28" name="Freeform: Shape 27">
            <a:extLst>
              <a:ext uri="{FF2B5EF4-FFF2-40B4-BE49-F238E27FC236}">
                <a16:creationId xmlns:a16="http://schemas.microsoft.com/office/drawing/2014/main" id="{D1627BEF-371F-C82F-E4A5-B04049E58F79}"/>
              </a:ext>
            </a:extLst>
          </p:cNvPr>
          <p:cNvSpPr/>
          <p:nvPr/>
        </p:nvSpPr>
        <p:spPr>
          <a:xfrm>
            <a:off x="2" y="0"/>
            <a:ext cx="12191999" cy="6858000"/>
          </a:xfrm>
          <a:custGeom>
            <a:avLst/>
            <a:gdLst>
              <a:gd name="connsiteX0" fmla="*/ 0 w 12191999"/>
              <a:gd name="connsiteY0" fmla="*/ 0 h 6858000"/>
              <a:gd name="connsiteX1" fmla="*/ 4315176 w 12191999"/>
              <a:gd name="connsiteY1" fmla="*/ 0 h 6858000"/>
              <a:gd name="connsiteX2" fmla="*/ 7590216 w 12191999"/>
              <a:gd name="connsiteY2" fmla="*/ 4912562 h 6858000"/>
              <a:gd name="connsiteX3" fmla="*/ 10865257 w 12191999"/>
              <a:gd name="connsiteY3" fmla="*/ 0 h 6858000"/>
              <a:gd name="connsiteX4" fmla="*/ 11220789 w 12191999"/>
              <a:gd name="connsiteY4" fmla="*/ 0 h 6858000"/>
              <a:gd name="connsiteX5" fmla="*/ 10059546 w 12191999"/>
              <a:gd name="connsiteY5" fmla="*/ 1813520 h 6858000"/>
              <a:gd name="connsiteX6" fmla="*/ 12191999 w 12191999"/>
              <a:gd name="connsiteY6" fmla="*/ 4865916 h 6858000"/>
              <a:gd name="connsiteX7" fmla="*/ 12191999 w 12191999"/>
              <a:gd name="connsiteY7" fmla="*/ 5522001 h 6858000"/>
              <a:gd name="connsiteX8" fmla="*/ 9831465 w 12191999"/>
              <a:gd name="connsiteY8" fmla="*/ 1981200 h 6858000"/>
              <a:gd name="connsiteX9" fmla="*/ 6580265 w 12191999"/>
              <a:gd name="connsiteY9" fmla="*/ 6858000 h 6858000"/>
              <a:gd name="connsiteX10" fmla="*/ 0 w 12191999"/>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6858000">
                <a:moveTo>
                  <a:pt x="0" y="0"/>
                </a:moveTo>
                <a:lnTo>
                  <a:pt x="4315176" y="0"/>
                </a:lnTo>
                <a:lnTo>
                  <a:pt x="7590216" y="4912562"/>
                </a:lnTo>
                <a:lnTo>
                  <a:pt x="10865257" y="0"/>
                </a:lnTo>
                <a:lnTo>
                  <a:pt x="11220789" y="0"/>
                </a:lnTo>
                <a:lnTo>
                  <a:pt x="10059546" y="1813520"/>
                </a:lnTo>
                <a:lnTo>
                  <a:pt x="12191999" y="4865916"/>
                </a:lnTo>
                <a:lnTo>
                  <a:pt x="12191999" y="5522001"/>
                </a:lnTo>
                <a:lnTo>
                  <a:pt x="9831465" y="1981200"/>
                </a:lnTo>
                <a:lnTo>
                  <a:pt x="6580265" y="6858000"/>
                </a:lnTo>
                <a:lnTo>
                  <a:pt x="0" y="6858000"/>
                </a:lnTo>
                <a:close/>
              </a:path>
            </a:pathLst>
          </a:custGeom>
          <a:solidFill>
            <a:schemeClr val="tx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C4E981DA-AD2D-D9C7-B41A-A611A666DF29}"/>
              </a:ext>
            </a:extLst>
          </p:cNvPr>
          <p:cNvSpPr txBox="1"/>
          <p:nvPr/>
        </p:nvSpPr>
        <p:spPr>
          <a:xfrm>
            <a:off x="0" y="1990662"/>
            <a:ext cx="7285220" cy="2585323"/>
          </a:xfrm>
          <a:prstGeom prst="rect">
            <a:avLst/>
          </a:prstGeom>
          <a:noFill/>
        </p:spPr>
        <p:txBody>
          <a:bodyPr wrap="square" rtlCol="0">
            <a:spAutoFit/>
          </a:bodyPr>
          <a:lstStyle/>
          <a:p>
            <a:r>
              <a:rPr lang="en-US" sz="5400" dirty="0">
                <a:latin typeface="+mj-lt"/>
              </a:rPr>
              <a:t>Facial Emotion Recognition Using </a:t>
            </a:r>
            <a:r>
              <a:rPr lang="en-US" sz="5400" dirty="0">
                <a:solidFill>
                  <a:srgbClr val="002060"/>
                </a:solidFill>
                <a:latin typeface="+mj-lt"/>
              </a:rPr>
              <a:t>CNNs</a:t>
            </a:r>
          </a:p>
        </p:txBody>
      </p:sp>
      <p:sp>
        <p:nvSpPr>
          <p:cNvPr id="34" name="TextBox 33">
            <a:extLst>
              <a:ext uri="{FF2B5EF4-FFF2-40B4-BE49-F238E27FC236}">
                <a16:creationId xmlns:a16="http://schemas.microsoft.com/office/drawing/2014/main" id="{555F0408-FC8F-379A-BDCC-AEBB3FD1ECDC}"/>
              </a:ext>
            </a:extLst>
          </p:cNvPr>
          <p:cNvSpPr txBox="1"/>
          <p:nvPr/>
        </p:nvSpPr>
        <p:spPr>
          <a:xfrm>
            <a:off x="0" y="5977328"/>
            <a:ext cx="5811187" cy="830997"/>
          </a:xfrm>
          <a:prstGeom prst="rect">
            <a:avLst/>
          </a:prstGeom>
          <a:noFill/>
        </p:spPr>
        <p:txBody>
          <a:bodyPr wrap="square" rtlCol="0">
            <a:spAutoFit/>
          </a:bodyPr>
          <a:lstStyle/>
          <a:p>
            <a:r>
              <a:rPr lang="en-US" sz="2400" b="1" dirty="0">
                <a:solidFill>
                  <a:srgbClr val="002060"/>
                </a:solidFill>
              </a:rPr>
              <a:t>Name: </a:t>
            </a:r>
            <a:r>
              <a:rPr lang="en-US" dirty="0"/>
              <a:t>SHAHD MOHMED HAZBER</a:t>
            </a:r>
          </a:p>
          <a:p>
            <a:r>
              <a:rPr lang="en-US" sz="2400" b="1" dirty="0">
                <a:solidFill>
                  <a:srgbClr val="002060"/>
                </a:solidFill>
              </a:rPr>
              <a:t>ID: </a:t>
            </a:r>
            <a:r>
              <a:rPr lang="en-US" dirty="0"/>
              <a:t>202209766</a:t>
            </a:r>
          </a:p>
        </p:txBody>
      </p:sp>
    </p:spTree>
    <p:extLst>
      <p:ext uri="{BB962C8B-B14F-4D97-AF65-F5344CB8AC3E}">
        <p14:creationId xmlns:p14="http://schemas.microsoft.com/office/powerpoint/2010/main" val="398193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4.16667E-6 0 L -0.25 0 " pathEditMode="relative" rAng="0" ptsTypes="AA">
                                      <p:cBhvr>
                                        <p:cTn id="6" dur="5750" fill="hold"/>
                                        <p:tgtEl>
                                          <p:spTgt spid="31"/>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D0129A2-2B3D-D143-3209-D4239BF21712}"/>
              </a:ext>
            </a:extLst>
          </p:cNvPr>
          <p:cNvSpPr txBox="1"/>
          <p:nvPr/>
        </p:nvSpPr>
        <p:spPr>
          <a:xfrm>
            <a:off x="4433326" y="340731"/>
            <a:ext cx="3616960" cy="584775"/>
          </a:xfrm>
          <a:prstGeom prst="rect">
            <a:avLst/>
          </a:prstGeom>
          <a:noFill/>
        </p:spPr>
        <p:txBody>
          <a:bodyPr wrap="square" rtlCol="0">
            <a:spAutoFit/>
          </a:bodyPr>
          <a:lstStyle/>
          <a:p>
            <a:pPr algn="ctr"/>
            <a:r>
              <a:rPr lang="en-US" sz="3200" dirty="0">
                <a:latin typeface="+mj-lt"/>
              </a:rPr>
              <a:t>I</a:t>
            </a:r>
            <a:r>
              <a:rPr lang="en-US" altLang="zh-CN" sz="3200" dirty="0">
                <a:latin typeface="+mj-lt"/>
              </a:rPr>
              <a:t>ntroduction</a:t>
            </a:r>
            <a:endParaRPr lang="en-US" sz="3200" dirty="0">
              <a:latin typeface="+mj-lt"/>
            </a:endParaRPr>
          </a:p>
        </p:txBody>
      </p:sp>
      <p:sp>
        <p:nvSpPr>
          <p:cNvPr id="33" name="TextBox 32">
            <a:extLst>
              <a:ext uri="{FF2B5EF4-FFF2-40B4-BE49-F238E27FC236}">
                <a16:creationId xmlns:a16="http://schemas.microsoft.com/office/drawing/2014/main" id="{7241771D-2EC0-5E9E-D68A-57F20D8E41D8}"/>
              </a:ext>
            </a:extLst>
          </p:cNvPr>
          <p:cNvSpPr txBox="1"/>
          <p:nvPr/>
        </p:nvSpPr>
        <p:spPr>
          <a:xfrm>
            <a:off x="939831" y="1756713"/>
            <a:ext cx="832962" cy="1764363"/>
          </a:xfrm>
          <a:custGeom>
            <a:avLst/>
            <a:gdLst/>
            <a:ahLst/>
            <a:cxnLst/>
            <a:rect l="l" t="t" r="r" b="b"/>
            <a:pathLst>
              <a:path w="832962" h="1764363">
                <a:moveTo>
                  <a:pt x="0" y="0"/>
                </a:moveTo>
                <a:lnTo>
                  <a:pt x="832962" y="0"/>
                </a:lnTo>
                <a:lnTo>
                  <a:pt x="832962" y="285226"/>
                </a:lnTo>
                <a:lnTo>
                  <a:pt x="774907" y="285226"/>
                </a:lnTo>
                <a:cubicBezTo>
                  <a:pt x="731155" y="285226"/>
                  <a:pt x="701707" y="292378"/>
                  <a:pt x="686562" y="306681"/>
                </a:cubicBezTo>
                <a:cubicBezTo>
                  <a:pt x="671418" y="320984"/>
                  <a:pt x="663845" y="350853"/>
                  <a:pt x="663845" y="396287"/>
                </a:cubicBezTo>
                <a:lnTo>
                  <a:pt x="663845" y="1385744"/>
                </a:lnTo>
                <a:cubicBezTo>
                  <a:pt x="663845" y="1419399"/>
                  <a:pt x="671838" y="1443379"/>
                  <a:pt x="687824" y="1457682"/>
                </a:cubicBezTo>
                <a:cubicBezTo>
                  <a:pt x="703811" y="1471985"/>
                  <a:pt x="734521" y="1479137"/>
                  <a:pt x="779955" y="1479137"/>
                </a:cubicBezTo>
                <a:lnTo>
                  <a:pt x="832962" y="1479137"/>
                </a:lnTo>
                <a:lnTo>
                  <a:pt x="832962" y="1764363"/>
                </a:lnTo>
                <a:lnTo>
                  <a:pt x="0" y="1764363"/>
                </a:lnTo>
                <a:lnTo>
                  <a:pt x="0" y="1479137"/>
                </a:lnTo>
                <a:lnTo>
                  <a:pt x="45435" y="1479137"/>
                </a:lnTo>
                <a:cubicBezTo>
                  <a:pt x="97600" y="1479137"/>
                  <a:pt x="131255" y="1473247"/>
                  <a:pt x="146400" y="1461468"/>
                </a:cubicBezTo>
                <a:cubicBezTo>
                  <a:pt x="161544" y="1449689"/>
                  <a:pt x="169117" y="1422765"/>
                  <a:pt x="169117" y="1380696"/>
                </a:cubicBezTo>
                <a:lnTo>
                  <a:pt x="169117" y="378619"/>
                </a:lnTo>
                <a:cubicBezTo>
                  <a:pt x="169117" y="339915"/>
                  <a:pt x="161544" y="314674"/>
                  <a:pt x="146400" y="302895"/>
                </a:cubicBezTo>
                <a:cubicBezTo>
                  <a:pt x="131255" y="291115"/>
                  <a:pt x="96758" y="285226"/>
                  <a:pt x="42910" y="285226"/>
                </a:cubicBezTo>
                <a:lnTo>
                  <a:pt x="0" y="285226"/>
                </a:lnTo>
                <a:close/>
              </a:path>
            </a:pathLst>
          </a:custGeom>
          <a:solidFill>
            <a:schemeClr val="tx1"/>
          </a:solidFill>
          <a:ln>
            <a:noFill/>
          </a:ln>
          <a:effectLst/>
          <a:scene3d>
            <a:camera prst="isometricOffAxis2Top">
              <a:rot lat="19260000" lon="3000000" rev="18000000"/>
            </a:camera>
            <a:lightRig rig="threePt" dir="t"/>
          </a:scene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9600" b="1" dirty="0">
              <a:latin typeface="Amasis MT Pro Black" panose="02040A04050005020304" pitchFamily="18" charset="0"/>
            </a:endParaRPr>
          </a:p>
        </p:txBody>
      </p:sp>
      <p:sp>
        <p:nvSpPr>
          <p:cNvPr id="40" name="TextBox 39">
            <a:extLst>
              <a:ext uri="{FF2B5EF4-FFF2-40B4-BE49-F238E27FC236}">
                <a16:creationId xmlns:a16="http://schemas.microsoft.com/office/drawing/2014/main" id="{96A12219-56B5-E9B7-4D21-DAD2126871E1}"/>
              </a:ext>
            </a:extLst>
          </p:cNvPr>
          <p:cNvSpPr txBox="1"/>
          <p:nvPr/>
        </p:nvSpPr>
        <p:spPr>
          <a:xfrm>
            <a:off x="5237892" y="1841537"/>
            <a:ext cx="1693688" cy="1725798"/>
          </a:xfrm>
          <a:custGeom>
            <a:avLst/>
            <a:gdLst/>
            <a:ahLst/>
            <a:cxnLst/>
            <a:rect l="l" t="t" r="r" b="b"/>
            <a:pathLst>
              <a:path w="1693688" h="1764363">
                <a:moveTo>
                  <a:pt x="0" y="0"/>
                </a:moveTo>
                <a:lnTo>
                  <a:pt x="1693688" y="0"/>
                </a:lnTo>
                <a:lnTo>
                  <a:pt x="1693688" y="583073"/>
                </a:lnTo>
                <a:lnTo>
                  <a:pt x="1327690" y="583073"/>
                </a:lnTo>
                <a:lnTo>
                  <a:pt x="1327690" y="419005"/>
                </a:lnTo>
                <a:cubicBezTo>
                  <a:pt x="1327690" y="387032"/>
                  <a:pt x="1322221" y="366419"/>
                  <a:pt x="1311283" y="357163"/>
                </a:cubicBezTo>
                <a:cubicBezTo>
                  <a:pt x="1300345" y="347908"/>
                  <a:pt x="1275524" y="343281"/>
                  <a:pt x="1236821" y="343281"/>
                </a:cubicBezTo>
                <a:lnTo>
                  <a:pt x="1090422" y="343281"/>
                </a:lnTo>
                <a:lnTo>
                  <a:pt x="1090422" y="1378172"/>
                </a:lnTo>
                <a:cubicBezTo>
                  <a:pt x="1090422" y="1423606"/>
                  <a:pt x="1099256" y="1451792"/>
                  <a:pt x="1116925" y="1462730"/>
                </a:cubicBezTo>
                <a:cubicBezTo>
                  <a:pt x="1134594" y="1473668"/>
                  <a:pt x="1172877" y="1479137"/>
                  <a:pt x="1231773" y="1479137"/>
                </a:cubicBezTo>
                <a:lnTo>
                  <a:pt x="1282255" y="1479137"/>
                </a:lnTo>
                <a:lnTo>
                  <a:pt x="1282255" y="1764363"/>
                </a:lnTo>
                <a:lnTo>
                  <a:pt x="406384" y="1764363"/>
                </a:lnTo>
                <a:lnTo>
                  <a:pt x="406384" y="1479137"/>
                </a:lnTo>
                <a:lnTo>
                  <a:pt x="494728" y="1479137"/>
                </a:lnTo>
                <a:cubicBezTo>
                  <a:pt x="540163" y="1479137"/>
                  <a:pt x="569611" y="1471985"/>
                  <a:pt x="583073" y="1457682"/>
                </a:cubicBezTo>
                <a:cubicBezTo>
                  <a:pt x="596535" y="1443379"/>
                  <a:pt x="603266" y="1419399"/>
                  <a:pt x="603266" y="1385744"/>
                </a:cubicBezTo>
                <a:lnTo>
                  <a:pt x="603266" y="343281"/>
                </a:lnTo>
                <a:lnTo>
                  <a:pt x="461915" y="343281"/>
                </a:lnTo>
                <a:cubicBezTo>
                  <a:pt x="419846" y="343281"/>
                  <a:pt x="393343" y="347908"/>
                  <a:pt x="382405" y="357163"/>
                </a:cubicBezTo>
                <a:cubicBezTo>
                  <a:pt x="371467" y="366419"/>
                  <a:pt x="365998" y="391239"/>
                  <a:pt x="365998" y="431625"/>
                </a:cubicBezTo>
                <a:lnTo>
                  <a:pt x="365998" y="583073"/>
                </a:lnTo>
                <a:lnTo>
                  <a:pt x="0" y="583073"/>
                </a:lnTo>
                <a:close/>
              </a:path>
            </a:pathLst>
          </a:custGeom>
          <a:solidFill>
            <a:schemeClr val="tx1"/>
          </a:solidFill>
          <a:ln>
            <a:noFill/>
          </a:ln>
          <a:effectLst/>
          <a:scene3d>
            <a:camera prst="isometricOffAxis2Top">
              <a:rot lat="19260000" lon="3000000" rev="18000000"/>
            </a:camera>
            <a:lightRig rig="threePt" dir="t"/>
          </a:scene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28700" b="1" dirty="0">
              <a:latin typeface="Amasis MT Pro Black" panose="02040A04050005020304" pitchFamily="18" charset="0"/>
            </a:endParaRPr>
          </a:p>
        </p:txBody>
      </p:sp>
      <p:sp>
        <p:nvSpPr>
          <p:cNvPr id="35" name="TextBox 34">
            <a:extLst>
              <a:ext uri="{FF2B5EF4-FFF2-40B4-BE49-F238E27FC236}">
                <a16:creationId xmlns:a16="http://schemas.microsoft.com/office/drawing/2014/main" id="{017B4DAF-D116-8BFC-F235-8DAEAE8281EA}"/>
              </a:ext>
            </a:extLst>
          </p:cNvPr>
          <p:cNvSpPr txBox="1"/>
          <p:nvPr/>
        </p:nvSpPr>
        <p:spPr>
          <a:xfrm>
            <a:off x="2836530" y="1756712"/>
            <a:ext cx="1754267" cy="1779508"/>
          </a:xfrm>
          <a:custGeom>
            <a:avLst/>
            <a:gdLst/>
            <a:ahLst/>
            <a:cxnLst/>
            <a:rect l="l" t="t" r="r" b="b"/>
            <a:pathLst>
              <a:path w="1754267" h="1779508">
                <a:moveTo>
                  <a:pt x="0" y="0"/>
                </a:moveTo>
                <a:lnTo>
                  <a:pt x="729472" y="0"/>
                </a:lnTo>
                <a:lnTo>
                  <a:pt x="1178767" y="1014698"/>
                </a:lnTo>
                <a:lnTo>
                  <a:pt x="1183815" y="1014698"/>
                </a:lnTo>
                <a:lnTo>
                  <a:pt x="1183815" y="396287"/>
                </a:lnTo>
                <a:cubicBezTo>
                  <a:pt x="1183815" y="349170"/>
                  <a:pt x="1175401" y="318881"/>
                  <a:pt x="1158574" y="305419"/>
                </a:cubicBezTo>
                <a:cubicBezTo>
                  <a:pt x="1141746" y="291957"/>
                  <a:pt x="1105567" y="285226"/>
                  <a:pt x="1050036" y="285226"/>
                </a:cubicBezTo>
                <a:lnTo>
                  <a:pt x="1022271" y="285226"/>
                </a:lnTo>
                <a:lnTo>
                  <a:pt x="1022271" y="0"/>
                </a:lnTo>
                <a:lnTo>
                  <a:pt x="1754267" y="0"/>
                </a:lnTo>
                <a:lnTo>
                  <a:pt x="1754267" y="285226"/>
                </a:lnTo>
                <a:lnTo>
                  <a:pt x="1693688" y="285226"/>
                </a:lnTo>
                <a:cubicBezTo>
                  <a:pt x="1649937" y="285226"/>
                  <a:pt x="1620489" y="291536"/>
                  <a:pt x="1605344" y="304157"/>
                </a:cubicBezTo>
                <a:cubicBezTo>
                  <a:pt x="1590199" y="316777"/>
                  <a:pt x="1582627" y="343281"/>
                  <a:pt x="1582627" y="383667"/>
                </a:cubicBezTo>
                <a:lnTo>
                  <a:pt x="1582627" y="1779508"/>
                </a:lnTo>
                <a:lnTo>
                  <a:pt x="1097995" y="1779508"/>
                </a:lnTo>
                <a:lnTo>
                  <a:pt x="575501" y="671417"/>
                </a:lnTo>
                <a:lnTo>
                  <a:pt x="570452" y="671417"/>
                </a:lnTo>
                <a:lnTo>
                  <a:pt x="570452" y="1388269"/>
                </a:lnTo>
                <a:cubicBezTo>
                  <a:pt x="570452" y="1423606"/>
                  <a:pt x="578446" y="1447585"/>
                  <a:pt x="594432" y="1460206"/>
                </a:cubicBezTo>
                <a:cubicBezTo>
                  <a:pt x="610418" y="1472827"/>
                  <a:pt x="642811" y="1479137"/>
                  <a:pt x="691611" y="1479137"/>
                </a:cubicBezTo>
                <a:lnTo>
                  <a:pt x="739569" y="1479137"/>
                </a:lnTo>
                <a:lnTo>
                  <a:pt x="739569" y="1764363"/>
                </a:lnTo>
                <a:lnTo>
                  <a:pt x="0" y="1764363"/>
                </a:lnTo>
                <a:lnTo>
                  <a:pt x="0" y="1479137"/>
                </a:lnTo>
                <a:lnTo>
                  <a:pt x="40386" y="1479137"/>
                </a:lnTo>
                <a:cubicBezTo>
                  <a:pt x="94234" y="1479137"/>
                  <a:pt x="129572" y="1473247"/>
                  <a:pt x="146400" y="1461468"/>
                </a:cubicBezTo>
                <a:cubicBezTo>
                  <a:pt x="163227" y="1449689"/>
                  <a:pt x="171641" y="1424448"/>
                  <a:pt x="171641" y="1385744"/>
                </a:cubicBezTo>
                <a:lnTo>
                  <a:pt x="171641" y="383667"/>
                </a:lnTo>
                <a:cubicBezTo>
                  <a:pt x="171641" y="343281"/>
                  <a:pt x="162386" y="316777"/>
                  <a:pt x="143875" y="304157"/>
                </a:cubicBezTo>
                <a:cubicBezTo>
                  <a:pt x="125365" y="291536"/>
                  <a:pt x="93393" y="285226"/>
                  <a:pt x="47959" y="285226"/>
                </a:cubicBezTo>
                <a:lnTo>
                  <a:pt x="0" y="285226"/>
                </a:lnTo>
                <a:close/>
              </a:path>
            </a:pathLst>
          </a:custGeom>
          <a:solidFill>
            <a:schemeClr val="tx1"/>
          </a:solidFill>
          <a:ln>
            <a:noFill/>
          </a:ln>
          <a:effectLst/>
          <a:scene3d>
            <a:camera prst="isometricOffAxis2Top">
              <a:rot lat="19260000" lon="3000000" rev="18000000"/>
            </a:camera>
            <a:lightRig rig="threePt" dir="t"/>
          </a:scene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28700" b="1" dirty="0">
              <a:latin typeface="Amasis MT Pro Black" panose="02040A04050005020304" pitchFamily="18" charset="0"/>
            </a:endParaRPr>
          </a:p>
        </p:txBody>
      </p:sp>
      <p:sp>
        <p:nvSpPr>
          <p:cNvPr id="41" name="TextBox 40">
            <a:extLst>
              <a:ext uri="{FF2B5EF4-FFF2-40B4-BE49-F238E27FC236}">
                <a16:creationId xmlns:a16="http://schemas.microsoft.com/office/drawing/2014/main" id="{A0F9CB4A-EB15-5FAA-548B-A7F54611186B}"/>
              </a:ext>
            </a:extLst>
          </p:cNvPr>
          <p:cNvSpPr txBox="1"/>
          <p:nvPr/>
        </p:nvSpPr>
        <p:spPr>
          <a:xfrm>
            <a:off x="7908416" y="1694490"/>
            <a:ext cx="1703784" cy="1764363"/>
          </a:xfrm>
          <a:custGeom>
            <a:avLst/>
            <a:gdLst/>
            <a:ahLst/>
            <a:cxnLst/>
            <a:rect l="l" t="t" r="r" b="b"/>
            <a:pathLst>
              <a:path w="1703784" h="1764363">
                <a:moveTo>
                  <a:pt x="646175" y="323088"/>
                </a:moveTo>
                <a:lnTo>
                  <a:pt x="646175" y="747141"/>
                </a:lnTo>
                <a:lnTo>
                  <a:pt x="759761" y="747141"/>
                </a:lnTo>
                <a:cubicBezTo>
                  <a:pt x="827071" y="747141"/>
                  <a:pt x="884284" y="733679"/>
                  <a:pt x="931401" y="706755"/>
                </a:cubicBezTo>
                <a:cubicBezTo>
                  <a:pt x="978518" y="679831"/>
                  <a:pt x="1002077" y="622617"/>
                  <a:pt x="1002077" y="535114"/>
                </a:cubicBezTo>
                <a:cubicBezTo>
                  <a:pt x="1002077" y="393763"/>
                  <a:pt x="922988" y="323088"/>
                  <a:pt x="764809" y="323088"/>
                </a:cubicBezTo>
                <a:close/>
                <a:moveTo>
                  <a:pt x="0" y="0"/>
                </a:moveTo>
                <a:lnTo>
                  <a:pt x="843057" y="0"/>
                </a:lnTo>
                <a:cubicBezTo>
                  <a:pt x="945705" y="0"/>
                  <a:pt x="1031104" y="7993"/>
                  <a:pt x="1099256" y="23979"/>
                </a:cubicBezTo>
                <a:cubicBezTo>
                  <a:pt x="1167407" y="39965"/>
                  <a:pt x="1226724" y="68992"/>
                  <a:pt x="1277207" y="111061"/>
                </a:cubicBezTo>
                <a:cubicBezTo>
                  <a:pt x="1329372" y="154813"/>
                  <a:pt x="1372282" y="211606"/>
                  <a:pt x="1405937" y="281440"/>
                </a:cubicBezTo>
                <a:cubicBezTo>
                  <a:pt x="1439592" y="351274"/>
                  <a:pt x="1456420" y="432467"/>
                  <a:pt x="1456420" y="525018"/>
                </a:cubicBezTo>
                <a:cubicBezTo>
                  <a:pt x="1456420" y="706755"/>
                  <a:pt x="1393316" y="845582"/>
                  <a:pt x="1267110" y="941498"/>
                </a:cubicBezTo>
                <a:lnTo>
                  <a:pt x="1474088" y="1345358"/>
                </a:lnTo>
                <a:cubicBezTo>
                  <a:pt x="1501012" y="1397524"/>
                  <a:pt x="1527095" y="1432861"/>
                  <a:pt x="1552336" y="1451372"/>
                </a:cubicBezTo>
                <a:cubicBezTo>
                  <a:pt x="1577578" y="1469882"/>
                  <a:pt x="1613756" y="1479137"/>
                  <a:pt x="1660874" y="1479137"/>
                </a:cubicBezTo>
                <a:lnTo>
                  <a:pt x="1703784" y="1479137"/>
                </a:lnTo>
                <a:lnTo>
                  <a:pt x="1703784" y="1764363"/>
                </a:lnTo>
                <a:lnTo>
                  <a:pt x="1123235" y="1764363"/>
                </a:lnTo>
                <a:lnTo>
                  <a:pt x="825388" y="1067705"/>
                </a:lnTo>
                <a:lnTo>
                  <a:pt x="646175" y="1067705"/>
                </a:lnTo>
                <a:lnTo>
                  <a:pt x="646175" y="1421082"/>
                </a:lnTo>
                <a:cubicBezTo>
                  <a:pt x="646175" y="1442958"/>
                  <a:pt x="652065" y="1458103"/>
                  <a:pt x="663844" y="1466516"/>
                </a:cubicBezTo>
                <a:cubicBezTo>
                  <a:pt x="675624" y="1474930"/>
                  <a:pt x="698341" y="1479137"/>
                  <a:pt x="731996" y="1479137"/>
                </a:cubicBezTo>
                <a:lnTo>
                  <a:pt x="797623" y="1479137"/>
                </a:lnTo>
                <a:lnTo>
                  <a:pt x="797623" y="1764363"/>
                </a:lnTo>
                <a:lnTo>
                  <a:pt x="0" y="1764363"/>
                </a:lnTo>
                <a:lnTo>
                  <a:pt x="0" y="1479137"/>
                </a:lnTo>
                <a:lnTo>
                  <a:pt x="60579" y="1479137"/>
                </a:lnTo>
                <a:cubicBezTo>
                  <a:pt x="106013" y="1479137"/>
                  <a:pt x="135461" y="1472827"/>
                  <a:pt x="148923" y="1460206"/>
                </a:cubicBezTo>
                <a:cubicBezTo>
                  <a:pt x="162385" y="1447585"/>
                  <a:pt x="169116" y="1424448"/>
                  <a:pt x="169116" y="1390793"/>
                </a:cubicBezTo>
                <a:lnTo>
                  <a:pt x="169116" y="386191"/>
                </a:lnTo>
                <a:cubicBezTo>
                  <a:pt x="169116" y="344122"/>
                  <a:pt x="160702" y="316777"/>
                  <a:pt x="143875" y="304157"/>
                </a:cubicBezTo>
                <a:cubicBezTo>
                  <a:pt x="127047" y="291536"/>
                  <a:pt x="96758" y="285226"/>
                  <a:pt x="53006" y="285226"/>
                </a:cubicBezTo>
                <a:lnTo>
                  <a:pt x="0" y="285226"/>
                </a:lnTo>
                <a:close/>
              </a:path>
            </a:pathLst>
          </a:custGeom>
          <a:solidFill>
            <a:schemeClr val="tx1"/>
          </a:solidFill>
          <a:ln>
            <a:noFill/>
          </a:ln>
          <a:effectLst/>
          <a:scene3d>
            <a:camera prst="isometricOffAxis2Top">
              <a:rot lat="19260000" lon="3000000" rev="18000000"/>
            </a:camera>
            <a:lightRig rig="threePt" dir="t"/>
          </a:scene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28700" b="1" dirty="0">
              <a:latin typeface="Amasis MT Pro Black" panose="02040A04050005020304" pitchFamily="18" charset="0"/>
            </a:endParaRPr>
          </a:p>
        </p:txBody>
      </p:sp>
      <p:sp>
        <p:nvSpPr>
          <p:cNvPr id="42" name="TextBox 41">
            <a:extLst>
              <a:ext uri="{FF2B5EF4-FFF2-40B4-BE49-F238E27FC236}">
                <a16:creationId xmlns:a16="http://schemas.microsoft.com/office/drawing/2014/main" id="{F49F928E-44F7-E32F-6A68-E2382BDC3690}"/>
              </a:ext>
            </a:extLst>
          </p:cNvPr>
          <p:cNvSpPr txBox="1"/>
          <p:nvPr/>
        </p:nvSpPr>
        <p:spPr>
          <a:xfrm>
            <a:off x="9935276" y="1637698"/>
            <a:ext cx="2044080" cy="1877949"/>
          </a:xfrm>
          <a:custGeom>
            <a:avLst/>
            <a:gdLst/>
            <a:ahLst/>
            <a:cxnLst/>
            <a:rect l="l" t="t" r="r" b="b"/>
            <a:pathLst>
              <a:path w="1789604" h="1877949">
                <a:moveTo>
                  <a:pt x="898588" y="348329"/>
                </a:moveTo>
                <a:cubicBezTo>
                  <a:pt x="770699" y="348329"/>
                  <a:pt x="673100" y="401336"/>
                  <a:pt x="605790" y="507349"/>
                </a:cubicBezTo>
                <a:cubicBezTo>
                  <a:pt x="538480" y="613362"/>
                  <a:pt x="504825" y="762286"/>
                  <a:pt x="504825" y="954119"/>
                </a:cubicBezTo>
                <a:cubicBezTo>
                  <a:pt x="504825" y="1145953"/>
                  <a:pt x="537639" y="1290669"/>
                  <a:pt x="603266" y="1388269"/>
                </a:cubicBezTo>
                <a:cubicBezTo>
                  <a:pt x="668893" y="1485868"/>
                  <a:pt x="766493" y="1534668"/>
                  <a:pt x="896064" y="1534668"/>
                </a:cubicBezTo>
                <a:cubicBezTo>
                  <a:pt x="1030684" y="1534668"/>
                  <a:pt x="1128284" y="1483765"/>
                  <a:pt x="1188863" y="1381958"/>
                </a:cubicBezTo>
                <a:cubicBezTo>
                  <a:pt x="1249442" y="1280152"/>
                  <a:pt x="1279731" y="1125760"/>
                  <a:pt x="1279731" y="918782"/>
                </a:cubicBezTo>
                <a:cubicBezTo>
                  <a:pt x="1279731" y="538480"/>
                  <a:pt x="1152684" y="348329"/>
                  <a:pt x="898588" y="348329"/>
                </a:cubicBezTo>
                <a:close/>
                <a:moveTo>
                  <a:pt x="918781" y="0"/>
                </a:moveTo>
                <a:cubicBezTo>
                  <a:pt x="1196435" y="0"/>
                  <a:pt x="1410986" y="79089"/>
                  <a:pt x="1562433" y="237268"/>
                </a:cubicBezTo>
                <a:cubicBezTo>
                  <a:pt x="1713881" y="395446"/>
                  <a:pt x="1789604" y="614204"/>
                  <a:pt x="1789604" y="893540"/>
                </a:cubicBezTo>
                <a:cubicBezTo>
                  <a:pt x="1789604" y="1082008"/>
                  <a:pt x="1756791" y="1250704"/>
                  <a:pt x="1691164" y="1399627"/>
                </a:cubicBezTo>
                <a:cubicBezTo>
                  <a:pt x="1625536" y="1548551"/>
                  <a:pt x="1525413" y="1665502"/>
                  <a:pt x="1390793" y="1750481"/>
                </a:cubicBezTo>
                <a:cubicBezTo>
                  <a:pt x="1256173" y="1835459"/>
                  <a:pt x="1090422" y="1877949"/>
                  <a:pt x="893540" y="1877949"/>
                </a:cubicBezTo>
                <a:cubicBezTo>
                  <a:pt x="706755" y="1877949"/>
                  <a:pt x="546052" y="1840929"/>
                  <a:pt x="411432" y="1766887"/>
                </a:cubicBezTo>
                <a:cubicBezTo>
                  <a:pt x="276812" y="1692846"/>
                  <a:pt x="174585" y="1585992"/>
                  <a:pt x="104751" y="1446324"/>
                </a:cubicBezTo>
                <a:cubicBezTo>
                  <a:pt x="34917" y="1306655"/>
                  <a:pt x="0" y="1140904"/>
                  <a:pt x="0" y="949071"/>
                </a:cubicBezTo>
                <a:cubicBezTo>
                  <a:pt x="0" y="758920"/>
                  <a:pt x="36179" y="592328"/>
                  <a:pt x="108537" y="449294"/>
                </a:cubicBezTo>
                <a:cubicBezTo>
                  <a:pt x="180896" y="306260"/>
                  <a:pt x="286067" y="195620"/>
                  <a:pt x="424053" y="117372"/>
                </a:cubicBezTo>
                <a:cubicBezTo>
                  <a:pt x="562038" y="39124"/>
                  <a:pt x="726948" y="0"/>
                  <a:pt x="918781" y="0"/>
                </a:cubicBezTo>
                <a:close/>
              </a:path>
            </a:pathLst>
          </a:custGeom>
          <a:solidFill>
            <a:schemeClr val="tx1"/>
          </a:solidFill>
          <a:ln>
            <a:noFill/>
          </a:ln>
          <a:effectLst/>
          <a:scene3d>
            <a:camera prst="isometricOffAxis2Top">
              <a:rot lat="19260000" lon="3000000" rev="18000000"/>
            </a:camera>
            <a:lightRig rig="threePt" dir="t"/>
          </a:scene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28700" b="1" dirty="0">
              <a:latin typeface="Amasis MT Pro Black" panose="02040A04050005020304" pitchFamily="18" charset="0"/>
            </a:endParaRPr>
          </a:p>
        </p:txBody>
      </p:sp>
      <p:cxnSp>
        <p:nvCxnSpPr>
          <p:cNvPr id="87" name="Straight Connector 86">
            <a:extLst>
              <a:ext uri="{FF2B5EF4-FFF2-40B4-BE49-F238E27FC236}">
                <a16:creationId xmlns:a16="http://schemas.microsoft.com/office/drawing/2014/main" id="{10896DAB-A956-673C-7B8F-CACAC9F9C5CF}"/>
              </a:ext>
            </a:extLst>
          </p:cNvPr>
          <p:cNvCxnSpPr>
            <a:cxnSpLocks/>
          </p:cNvCxnSpPr>
          <p:nvPr/>
        </p:nvCxnSpPr>
        <p:spPr>
          <a:xfrm>
            <a:off x="1013238" y="643123"/>
            <a:ext cx="36465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986C1045-EE92-22B0-6ED4-7861996C1E53}"/>
              </a:ext>
            </a:extLst>
          </p:cNvPr>
          <p:cNvCxnSpPr>
            <a:cxnSpLocks/>
          </p:cNvCxnSpPr>
          <p:nvPr/>
        </p:nvCxnSpPr>
        <p:spPr>
          <a:xfrm>
            <a:off x="7788908" y="658061"/>
            <a:ext cx="3646583"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763D164F-88E7-A613-EF1A-0584006C68B4}"/>
              </a:ext>
            </a:extLst>
          </p:cNvPr>
          <p:cNvGrpSpPr/>
          <p:nvPr/>
        </p:nvGrpSpPr>
        <p:grpSpPr>
          <a:xfrm>
            <a:off x="418402" y="2151213"/>
            <a:ext cx="1860805" cy="4154331"/>
            <a:chOff x="418402" y="2151213"/>
            <a:chExt cx="1860805" cy="4154331"/>
          </a:xfrm>
        </p:grpSpPr>
        <p:sp>
          <p:nvSpPr>
            <p:cNvPr id="60" name="Freeform: Shape 59">
              <a:extLst>
                <a:ext uri="{FF2B5EF4-FFF2-40B4-BE49-F238E27FC236}">
                  <a16:creationId xmlns:a16="http://schemas.microsoft.com/office/drawing/2014/main" id="{EF8BF1D5-6D84-9D5A-C563-5548416354DD}"/>
                </a:ext>
              </a:extLst>
            </p:cNvPr>
            <p:cNvSpPr/>
            <p:nvPr/>
          </p:nvSpPr>
          <p:spPr>
            <a:xfrm>
              <a:off x="418402" y="2151213"/>
              <a:ext cx="1860805" cy="4154331"/>
            </a:xfrm>
            <a:custGeom>
              <a:avLst/>
              <a:gdLst>
                <a:gd name="connsiteX0" fmla="*/ 1222063 w 1860805"/>
                <a:gd name="connsiteY0" fmla="*/ 0 h 3639986"/>
                <a:gd name="connsiteX1" fmla="*/ 1860805 w 1860805"/>
                <a:gd name="connsiteY1" fmla="*/ 266834 h 3639986"/>
                <a:gd name="connsiteX2" fmla="*/ 1860805 w 1860805"/>
                <a:gd name="connsiteY2" fmla="*/ 3639986 h 3639986"/>
                <a:gd name="connsiteX3" fmla="*/ 0 w 1860805"/>
                <a:gd name="connsiteY3" fmla="*/ 3639986 h 3639986"/>
                <a:gd name="connsiteX4" fmla="*/ 0 w 1860805"/>
                <a:gd name="connsiteY4" fmla="*/ 707546 h 3639986"/>
                <a:gd name="connsiteX5" fmla="*/ 226079 w 1860805"/>
                <a:gd name="connsiteY5" fmla="*/ 576651 h 3639986"/>
                <a:gd name="connsiteX6" fmla="*/ 226609 w 1860805"/>
                <a:gd name="connsiteY6" fmla="*/ 577018 h 3639986"/>
                <a:gd name="connsiteX7" fmla="*/ 376476 w 1860805"/>
                <a:gd name="connsiteY7" fmla="*/ 617969 h 3639986"/>
                <a:gd name="connsiteX8" fmla="*/ 1107351 w 1860805"/>
                <a:gd name="connsiteY8" fmla="*/ 187005 h 3639986"/>
                <a:gd name="connsiteX9" fmla="*/ 1035513 w 1860805"/>
                <a:gd name="connsiteY9" fmla="*/ 121677 h 3639986"/>
                <a:gd name="connsiteX10" fmla="*/ 1025016 w 1860805"/>
                <a:gd name="connsiteY10" fmla="*/ 114085 h 363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60805" h="3639986">
                  <a:moveTo>
                    <a:pt x="1222063" y="0"/>
                  </a:moveTo>
                  <a:lnTo>
                    <a:pt x="1860805" y="266834"/>
                  </a:lnTo>
                  <a:lnTo>
                    <a:pt x="1860805" y="3639986"/>
                  </a:lnTo>
                  <a:lnTo>
                    <a:pt x="0" y="3639986"/>
                  </a:lnTo>
                  <a:lnTo>
                    <a:pt x="0" y="707546"/>
                  </a:lnTo>
                  <a:lnTo>
                    <a:pt x="226079" y="576651"/>
                  </a:lnTo>
                  <a:lnTo>
                    <a:pt x="226609" y="577018"/>
                  </a:lnTo>
                  <a:cubicBezTo>
                    <a:pt x="274047" y="605821"/>
                    <a:pt x="353193" y="633435"/>
                    <a:pt x="376476" y="617969"/>
                  </a:cubicBezTo>
                  <a:cubicBezTo>
                    <a:pt x="580911" y="482169"/>
                    <a:pt x="902916" y="322805"/>
                    <a:pt x="1107351" y="187005"/>
                  </a:cubicBezTo>
                  <a:cubicBezTo>
                    <a:pt x="1130634" y="171539"/>
                    <a:pt x="1074404" y="147007"/>
                    <a:pt x="1035513" y="121677"/>
                  </a:cubicBezTo>
                  <a:lnTo>
                    <a:pt x="1025016" y="114085"/>
                  </a:lnTo>
                  <a:close/>
                </a:path>
              </a:pathLst>
            </a:custGeom>
            <a:gradFill flip="none" rotWithShape="1">
              <a:gsLst>
                <a:gs pos="0">
                  <a:schemeClr val="bg1">
                    <a:alpha val="20000"/>
                    <a:lumMod val="100000"/>
                  </a:schemeClr>
                </a:gs>
                <a:gs pos="100000">
                  <a:schemeClr val="bg1">
                    <a:alpha val="0"/>
                    <a:lumMod val="100000"/>
                  </a:schemeClr>
                </a:gs>
              </a:gsLst>
              <a:path path="circle">
                <a:fillToRect l="100000" t="100000"/>
              </a:path>
              <a:tileRect r="-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AB22C8AB-7111-5D89-452E-E70B981B2881}"/>
                </a:ext>
              </a:extLst>
            </p:cNvPr>
            <p:cNvSpPr txBox="1"/>
            <p:nvPr/>
          </p:nvSpPr>
          <p:spPr>
            <a:xfrm>
              <a:off x="509789" y="3904829"/>
              <a:ext cx="1711766" cy="1754326"/>
            </a:xfrm>
            <a:prstGeom prst="rect">
              <a:avLst/>
            </a:prstGeom>
            <a:noFill/>
          </p:spPr>
          <p:txBody>
            <a:bodyPr wrap="square" rtlCol="0">
              <a:spAutoFit/>
            </a:bodyPr>
            <a:lstStyle/>
            <a:p>
              <a:pPr algn="ctr"/>
              <a:r>
                <a:rPr lang="en-US" dirty="0">
                  <a:solidFill>
                    <a:schemeClr val="tx1">
                      <a:lumMod val="50000"/>
                    </a:schemeClr>
                  </a:solidFill>
                  <a:effectLst/>
                  <a:ea typeface="DengXian" panose="02010600030101010101" pitchFamily="2" charset="-122"/>
                </a:rPr>
                <a:t>Facial expressions play a crucial role in human interactions and daily life.</a:t>
              </a:r>
              <a:endParaRPr lang="en-US" sz="1600" dirty="0">
                <a:solidFill>
                  <a:schemeClr val="tx1">
                    <a:lumMod val="50000"/>
                  </a:schemeClr>
                </a:solidFill>
              </a:endParaRPr>
            </a:p>
          </p:txBody>
        </p:sp>
      </p:grpSp>
      <p:grpSp>
        <p:nvGrpSpPr>
          <p:cNvPr id="8" name="Group 7">
            <a:extLst>
              <a:ext uri="{FF2B5EF4-FFF2-40B4-BE49-F238E27FC236}">
                <a16:creationId xmlns:a16="http://schemas.microsoft.com/office/drawing/2014/main" id="{DC0B3EB1-D044-7993-DC82-C3265359F456}"/>
              </a:ext>
            </a:extLst>
          </p:cNvPr>
          <p:cNvGrpSpPr/>
          <p:nvPr/>
        </p:nvGrpSpPr>
        <p:grpSpPr>
          <a:xfrm>
            <a:off x="2508140" y="2018451"/>
            <a:ext cx="2458191" cy="4287089"/>
            <a:chOff x="2508140" y="2018451"/>
            <a:chExt cx="2458191" cy="4287089"/>
          </a:xfrm>
        </p:grpSpPr>
        <p:sp>
          <p:nvSpPr>
            <p:cNvPr id="72" name="Freeform: Shape 71">
              <a:extLst>
                <a:ext uri="{FF2B5EF4-FFF2-40B4-BE49-F238E27FC236}">
                  <a16:creationId xmlns:a16="http://schemas.microsoft.com/office/drawing/2014/main" id="{72E777F9-5AEC-9B27-36DF-D13E964876DC}"/>
                </a:ext>
              </a:extLst>
            </p:cNvPr>
            <p:cNvSpPr/>
            <p:nvPr/>
          </p:nvSpPr>
          <p:spPr>
            <a:xfrm>
              <a:off x="2508140" y="2018451"/>
              <a:ext cx="2443167" cy="4287089"/>
            </a:xfrm>
            <a:custGeom>
              <a:avLst/>
              <a:gdLst>
                <a:gd name="connsiteX0" fmla="*/ 1154670 w 2443167"/>
                <a:gd name="connsiteY0" fmla="*/ 0 h 3772748"/>
                <a:gd name="connsiteX1" fmla="*/ 1170110 w 2443167"/>
                <a:gd name="connsiteY1" fmla="*/ 0 h 3772748"/>
                <a:gd name="connsiteX2" fmla="*/ 1693726 w 2443167"/>
                <a:gd name="connsiteY2" fmla="*/ 226850 h 3772748"/>
                <a:gd name="connsiteX3" fmla="*/ 1612504 w 2443167"/>
                <a:gd name="connsiteY3" fmla="*/ 366646 h 3772748"/>
                <a:gd name="connsiteX4" fmla="*/ 1615017 w 2443167"/>
                <a:gd name="connsiteY4" fmla="*/ 368698 h 3772748"/>
                <a:gd name="connsiteX5" fmla="*/ 1607350 w 2443167"/>
                <a:gd name="connsiteY5" fmla="*/ 364280 h 3772748"/>
                <a:gd name="connsiteX6" fmla="*/ 1344115 w 2443167"/>
                <a:gd name="connsiteY6" fmla="*/ 776137 h 3772748"/>
                <a:gd name="connsiteX7" fmla="*/ 1786406 w 2443167"/>
                <a:gd name="connsiteY7" fmla="*/ 514468 h 3772748"/>
                <a:gd name="connsiteX8" fmla="*/ 1801656 w 2443167"/>
                <a:gd name="connsiteY8" fmla="*/ 505336 h 3772748"/>
                <a:gd name="connsiteX9" fmla="*/ 1816123 w 2443167"/>
                <a:gd name="connsiteY9" fmla="*/ 484605 h 3772748"/>
                <a:gd name="connsiteX10" fmla="*/ 1724418 w 2443167"/>
                <a:gd name="connsiteY10" fmla="*/ 431751 h 3772748"/>
                <a:gd name="connsiteX11" fmla="*/ 1919302 w 2443167"/>
                <a:gd name="connsiteY11" fmla="*/ 324578 h 3772748"/>
                <a:gd name="connsiteX12" fmla="*/ 2443167 w 2443167"/>
                <a:gd name="connsiteY12" fmla="*/ 551535 h 3772748"/>
                <a:gd name="connsiteX13" fmla="*/ 2443167 w 2443167"/>
                <a:gd name="connsiteY13" fmla="*/ 3772748 h 3772748"/>
                <a:gd name="connsiteX14" fmla="*/ 0 w 2443167"/>
                <a:gd name="connsiteY14" fmla="*/ 3772748 h 3772748"/>
                <a:gd name="connsiteX15" fmla="*/ 0 w 2443167"/>
                <a:gd name="connsiteY15" fmla="*/ 666853 h 3772748"/>
                <a:gd name="connsiteX16" fmla="*/ 165496 w 2443167"/>
                <a:gd name="connsiteY16" fmla="*/ 571275 h 3772748"/>
                <a:gd name="connsiteX17" fmla="*/ 167566 w 2443167"/>
                <a:gd name="connsiteY17" fmla="*/ 572707 h 3772748"/>
                <a:gd name="connsiteX18" fmla="*/ 317433 w 2443167"/>
                <a:gd name="connsiteY18" fmla="*/ 613658 h 3772748"/>
                <a:gd name="connsiteX19" fmla="*/ 1048308 w 2443167"/>
                <a:gd name="connsiteY19" fmla="*/ 182694 h 3772748"/>
                <a:gd name="connsiteX20" fmla="*/ 976470 w 2443167"/>
                <a:gd name="connsiteY20" fmla="*/ 117366 h 3772748"/>
                <a:gd name="connsiteX21" fmla="*/ 965360 w 2443167"/>
                <a:gd name="connsiteY21" fmla="*/ 109332 h 37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43167" h="3772748">
                  <a:moveTo>
                    <a:pt x="1154670" y="0"/>
                  </a:moveTo>
                  <a:lnTo>
                    <a:pt x="1170110" y="0"/>
                  </a:lnTo>
                  <a:lnTo>
                    <a:pt x="1693726" y="226850"/>
                  </a:lnTo>
                  <a:lnTo>
                    <a:pt x="1612504" y="366646"/>
                  </a:lnTo>
                  <a:lnTo>
                    <a:pt x="1615017" y="368698"/>
                  </a:lnTo>
                  <a:lnTo>
                    <a:pt x="1607350" y="364280"/>
                  </a:lnTo>
                  <a:lnTo>
                    <a:pt x="1344115" y="776137"/>
                  </a:lnTo>
                  <a:lnTo>
                    <a:pt x="1786406" y="514468"/>
                  </a:lnTo>
                  <a:cubicBezTo>
                    <a:pt x="1795555" y="508089"/>
                    <a:pt x="1791842" y="521326"/>
                    <a:pt x="1801656" y="505336"/>
                  </a:cubicBezTo>
                  <a:lnTo>
                    <a:pt x="1816123" y="484605"/>
                  </a:lnTo>
                  <a:lnTo>
                    <a:pt x="1724418" y="431751"/>
                  </a:lnTo>
                  <a:lnTo>
                    <a:pt x="1919302" y="324578"/>
                  </a:lnTo>
                  <a:lnTo>
                    <a:pt x="2443167" y="551535"/>
                  </a:lnTo>
                  <a:lnTo>
                    <a:pt x="2443167" y="3772748"/>
                  </a:lnTo>
                  <a:lnTo>
                    <a:pt x="0" y="3772748"/>
                  </a:lnTo>
                  <a:lnTo>
                    <a:pt x="0" y="666853"/>
                  </a:lnTo>
                  <a:lnTo>
                    <a:pt x="165496" y="571275"/>
                  </a:lnTo>
                  <a:lnTo>
                    <a:pt x="167566" y="572707"/>
                  </a:lnTo>
                  <a:cubicBezTo>
                    <a:pt x="215004" y="601511"/>
                    <a:pt x="294150" y="629124"/>
                    <a:pt x="317433" y="613658"/>
                  </a:cubicBezTo>
                  <a:cubicBezTo>
                    <a:pt x="521868" y="477858"/>
                    <a:pt x="843873" y="318494"/>
                    <a:pt x="1048308" y="182694"/>
                  </a:cubicBezTo>
                  <a:cubicBezTo>
                    <a:pt x="1071591" y="167228"/>
                    <a:pt x="1015361" y="142696"/>
                    <a:pt x="976470" y="117366"/>
                  </a:cubicBezTo>
                  <a:lnTo>
                    <a:pt x="965360" y="109332"/>
                  </a:lnTo>
                  <a:close/>
                </a:path>
              </a:pathLst>
            </a:custGeom>
            <a:gradFill flip="none" rotWithShape="1">
              <a:gsLst>
                <a:gs pos="0">
                  <a:schemeClr val="bg1">
                    <a:alpha val="20000"/>
                    <a:lumMod val="100000"/>
                  </a:schemeClr>
                </a:gs>
                <a:gs pos="100000">
                  <a:schemeClr val="bg1">
                    <a:alpha val="0"/>
                    <a:lumMod val="100000"/>
                  </a:schemeClr>
                </a:gs>
              </a:gsLst>
              <a:path path="circle">
                <a:fillToRect l="100000" t="100000"/>
              </a:path>
              <a:tileRect r="-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E240067F-30AB-EAEF-C4DA-31E4CE296610}"/>
                </a:ext>
              </a:extLst>
            </p:cNvPr>
            <p:cNvSpPr txBox="1"/>
            <p:nvPr/>
          </p:nvSpPr>
          <p:spPr>
            <a:xfrm>
              <a:off x="2523164" y="3585404"/>
              <a:ext cx="2443167" cy="2554545"/>
            </a:xfrm>
            <a:prstGeom prst="rect">
              <a:avLst/>
            </a:prstGeom>
            <a:noFill/>
          </p:spPr>
          <p:txBody>
            <a:bodyPr wrap="square" rtlCol="0">
              <a:spAutoFit/>
            </a:bodyPr>
            <a:lstStyle/>
            <a:p>
              <a:pPr algn="ctr" rtl="1"/>
              <a:r>
                <a:rPr lang="en-US" sz="1600" dirty="0">
                  <a:solidFill>
                    <a:schemeClr val="tx1">
                      <a:lumMod val="50000"/>
                    </a:schemeClr>
                  </a:solidFill>
                  <a:effectLst/>
                  <a:ea typeface="DengXian" panose="02010600030101010101" pitchFamily="2" charset="-122"/>
                </a:rPr>
                <a:t>Recognizing human facial expressions is a challenging task for computer algorithms. computers do not possess emotions and lack the ability to comprehend what it means to feel happiness or sadness. </a:t>
              </a:r>
              <a:endParaRPr lang="en-US" sz="1400" dirty="0">
                <a:solidFill>
                  <a:schemeClr val="tx1">
                    <a:lumMod val="50000"/>
                  </a:schemeClr>
                </a:solidFill>
              </a:endParaRPr>
            </a:p>
          </p:txBody>
        </p:sp>
      </p:grpSp>
      <p:grpSp>
        <p:nvGrpSpPr>
          <p:cNvPr id="10" name="Group 9">
            <a:extLst>
              <a:ext uri="{FF2B5EF4-FFF2-40B4-BE49-F238E27FC236}">
                <a16:creationId xmlns:a16="http://schemas.microsoft.com/office/drawing/2014/main" id="{EFE5881B-3613-3089-B317-15AF75D5999E}"/>
              </a:ext>
            </a:extLst>
          </p:cNvPr>
          <p:cNvGrpSpPr/>
          <p:nvPr/>
        </p:nvGrpSpPr>
        <p:grpSpPr>
          <a:xfrm>
            <a:off x="5082983" y="2449904"/>
            <a:ext cx="2220390" cy="3855635"/>
            <a:chOff x="5082983" y="2449904"/>
            <a:chExt cx="2220390" cy="3855635"/>
          </a:xfrm>
        </p:grpSpPr>
        <p:sp>
          <p:nvSpPr>
            <p:cNvPr id="82" name="Freeform: Shape 81">
              <a:extLst>
                <a:ext uri="{FF2B5EF4-FFF2-40B4-BE49-F238E27FC236}">
                  <a16:creationId xmlns:a16="http://schemas.microsoft.com/office/drawing/2014/main" id="{116439B9-ACC4-2181-DD96-F05593DAF399}"/>
                </a:ext>
              </a:extLst>
            </p:cNvPr>
            <p:cNvSpPr/>
            <p:nvPr/>
          </p:nvSpPr>
          <p:spPr>
            <a:xfrm>
              <a:off x="5180240" y="2449904"/>
              <a:ext cx="2123133" cy="3855635"/>
            </a:xfrm>
            <a:custGeom>
              <a:avLst/>
              <a:gdLst>
                <a:gd name="connsiteX0" fmla="*/ 1439676 w 2123133"/>
                <a:gd name="connsiteY0" fmla="*/ 239 h 3415959"/>
                <a:gd name="connsiteX1" fmla="*/ 2037377 w 2123133"/>
                <a:gd name="connsiteY1" fmla="*/ 192711 h 3415959"/>
                <a:gd name="connsiteX2" fmla="*/ 2123133 w 2123133"/>
                <a:gd name="connsiteY2" fmla="*/ 202417 h 3415959"/>
                <a:gd name="connsiteX3" fmla="*/ 2123133 w 2123133"/>
                <a:gd name="connsiteY3" fmla="*/ 3415959 h 3415959"/>
                <a:gd name="connsiteX4" fmla="*/ 0 w 2123133"/>
                <a:gd name="connsiteY4" fmla="*/ 3415959 h 3415959"/>
                <a:gd name="connsiteX5" fmla="*/ 0 w 2123133"/>
                <a:gd name="connsiteY5" fmla="*/ 487037 h 3415959"/>
                <a:gd name="connsiteX6" fmla="*/ 3357 w 2123133"/>
                <a:gd name="connsiteY6" fmla="*/ 487204 h 3415959"/>
                <a:gd name="connsiteX7" fmla="*/ 1085480 w 2123133"/>
                <a:gd name="connsiteY7" fmla="*/ 203069 h 3415959"/>
                <a:gd name="connsiteX8" fmla="*/ 1125518 w 2123133"/>
                <a:gd name="connsiteY8" fmla="*/ 79263 h 3415959"/>
                <a:gd name="connsiteX9" fmla="*/ 1439676 w 2123133"/>
                <a:gd name="connsiteY9" fmla="*/ 239 h 3415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3133" h="3415959">
                  <a:moveTo>
                    <a:pt x="1439676" y="239"/>
                  </a:moveTo>
                  <a:cubicBezTo>
                    <a:pt x="1549959" y="-6945"/>
                    <a:pt x="1834916" y="150004"/>
                    <a:pt x="2037377" y="192711"/>
                  </a:cubicBezTo>
                  <a:lnTo>
                    <a:pt x="2123133" y="202417"/>
                  </a:lnTo>
                  <a:lnTo>
                    <a:pt x="2123133" y="3415959"/>
                  </a:lnTo>
                  <a:lnTo>
                    <a:pt x="0" y="3415959"/>
                  </a:lnTo>
                  <a:lnTo>
                    <a:pt x="0" y="487037"/>
                  </a:lnTo>
                  <a:lnTo>
                    <a:pt x="3357" y="487204"/>
                  </a:lnTo>
                  <a:cubicBezTo>
                    <a:pt x="278393" y="483257"/>
                    <a:pt x="908153" y="260691"/>
                    <a:pt x="1085480" y="203069"/>
                  </a:cubicBezTo>
                  <a:cubicBezTo>
                    <a:pt x="1288140" y="137214"/>
                    <a:pt x="1051495" y="95580"/>
                    <a:pt x="1125518" y="79263"/>
                  </a:cubicBezTo>
                  <a:cubicBezTo>
                    <a:pt x="1199541" y="62947"/>
                    <a:pt x="1292633" y="9817"/>
                    <a:pt x="1439676" y="239"/>
                  </a:cubicBezTo>
                  <a:close/>
                </a:path>
              </a:pathLst>
            </a:custGeom>
            <a:gradFill flip="none" rotWithShape="1">
              <a:gsLst>
                <a:gs pos="0">
                  <a:schemeClr val="bg1">
                    <a:alpha val="20000"/>
                    <a:lumMod val="100000"/>
                  </a:schemeClr>
                </a:gs>
                <a:gs pos="100000">
                  <a:schemeClr val="bg1">
                    <a:alpha val="0"/>
                    <a:lumMod val="100000"/>
                  </a:schemeClr>
                </a:gs>
              </a:gsLst>
              <a:path path="circle">
                <a:fillToRect l="100000" t="100000"/>
              </a:path>
              <a:tileRect r="-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a:extLst>
                <a:ext uri="{FF2B5EF4-FFF2-40B4-BE49-F238E27FC236}">
                  <a16:creationId xmlns:a16="http://schemas.microsoft.com/office/drawing/2014/main" id="{C2BA736E-A21D-B91E-0C15-32C5968CA9EF}"/>
                </a:ext>
              </a:extLst>
            </p:cNvPr>
            <p:cNvSpPr txBox="1"/>
            <p:nvPr/>
          </p:nvSpPr>
          <p:spPr>
            <a:xfrm>
              <a:off x="5082983" y="3387956"/>
              <a:ext cx="2220390" cy="2902141"/>
            </a:xfrm>
            <a:prstGeom prst="rect">
              <a:avLst/>
            </a:prstGeom>
            <a:noFill/>
          </p:spPr>
          <p:txBody>
            <a:bodyPr wrap="square" rtlCol="0">
              <a:spAutoFit/>
            </a:bodyPr>
            <a:lstStyle/>
            <a:p>
              <a:pPr algn="ctr" rtl="0">
                <a:lnSpc>
                  <a:spcPct val="115000"/>
                </a:lnSpc>
                <a:spcAft>
                  <a:spcPts val="800"/>
                </a:spcAft>
              </a:pPr>
              <a:r>
                <a:rPr lang="en-US" sz="1600" kern="100" dirty="0">
                  <a:solidFill>
                    <a:schemeClr val="tx1">
                      <a:lumMod val="50000"/>
                    </a:schemeClr>
                  </a:solidFill>
                  <a:effectLst/>
                  <a:ea typeface="DengXian" panose="02010600030101010101" pitchFamily="2" charset="-122"/>
                  <a:cs typeface="Arial" panose="020B0604020202020204" pitchFamily="34" charset="0"/>
                </a:rPr>
                <a:t>Use CNNs to recognize human facial emotions. The proposed model implemented using Python, and its performance evaluated to determine its effectiveness.</a:t>
              </a:r>
            </a:p>
          </p:txBody>
        </p:sp>
      </p:grpSp>
      <p:grpSp>
        <p:nvGrpSpPr>
          <p:cNvPr id="11" name="Group 10">
            <a:extLst>
              <a:ext uri="{FF2B5EF4-FFF2-40B4-BE49-F238E27FC236}">
                <a16:creationId xmlns:a16="http://schemas.microsoft.com/office/drawing/2014/main" id="{3193CC7E-E6A9-588B-0E2F-4FDEB5FE7A34}"/>
              </a:ext>
            </a:extLst>
          </p:cNvPr>
          <p:cNvGrpSpPr/>
          <p:nvPr/>
        </p:nvGrpSpPr>
        <p:grpSpPr>
          <a:xfrm>
            <a:off x="7536491" y="2449903"/>
            <a:ext cx="2132345" cy="3855635"/>
            <a:chOff x="7536491" y="2449903"/>
            <a:chExt cx="2132345" cy="3855635"/>
          </a:xfrm>
        </p:grpSpPr>
        <p:sp>
          <p:nvSpPr>
            <p:cNvPr id="80" name="Freeform: Shape 79">
              <a:extLst>
                <a:ext uri="{FF2B5EF4-FFF2-40B4-BE49-F238E27FC236}">
                  <a16:creationId xmlns:a16="http://schemas.microsoft.com/office/drawing/2014/main" id="{C003AA91-416D-3E25-3183-07A31FE66BAB}"/>
                </a:ext>
              </a:extLst>
            </p:cNvPr>
            <p:cNvSpPr/>
            <p:nvPr/>
          </p:nvSpPr>
          <p:spPr>
            <a:xfrm>
              <a:off x="7536679" y="2449903"/>
              <a:ext cx="2075521" cy="3855635"/>
            </a:xfrm>
            <a:custGeom>
              <a:avLst/>
              <a:gdLst>
                <a:gd name="connsiteX0" fmla="*/ 2075521 w 2075521"/>
                <a:gd name="connsiteY0" fmla="*/ 0 h 3341294"/>
                <a:gd name="connsiteX1" fmla="*/ 2075521 w 2075521"/>
                <a:gd name="connsiteY1" fmla="*/ 3341294 h 3341294"/>
                <a:gd name="connsiteX2" fmla="*/ 0 w 2075521"/>
                <a:gd name="connsiteY2" fmla="*/ 3341294 h 3341294"/>
                <a:gd name="connsiteX3" fmla="*/ 0 w 2075521"/>
                <a:gd name="connsiteY3" fmla="*/ 212819 h 3341294"/>
                <a:gd name="connsiteX4" fmla="*/ 63267 w 2075521"/>
                <a:gd name="connsiteY4" fmla="*/ 208118 h 3341294"/>
                <a:gd name="connsiteX5" fmla="*/ 513039 w 2075521"/>
                <a:gd name="connsiteY5" fmla="*/ 150890 h 3341294"/>
                <a:gd name="connsiteX6" fmla="*/ 737890 w 2075521"/>
                <a:gd name="connsiteY6" fmla="*/ 38463 h 3341294"/>
                <a:gd name="connsiteX7" fmla="*/ 1504221 w 2075521"/>
                <a:gd name="connsiteY7" fmla="*/ 271376 h 3341294"/>
                <a:gd name="connsiteX8" fmla="*/ 2014225 w 2075521"/>
                <a:gd name="connsiteY8" fmla="*/ 48643 h 334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5521" h="3341294">
                  <a:moveTo>
                    <a:pt x="2075521" y="0"/>
                  </a:moveTo>
                  <a:lnTo>
                    <a:pt x="2075521" y="3341294"/>
                  </a:lnTo>
                  <a:lnTo>
                    <a:pt x="0" y="3341294"/>
                  </a:lnTo>
                  <a:lnTo>
                    <a:pt x="0" y="212819"/>
                  </a:lnTo>
                  <a:lnTo>
                    <a:pt x="63267" y="208118"/>
                  </a:lnTo>
                  <a:cubicBezTo>
                    <a:pt x="210101" y="197917"/>
                    <a:pt x="418413" y="185555"/>
                    <a:pt x="513039" y="150890"/>
                  </a:cubicBezTo>
                  <a:cubicBezTo>
                    <a:pt x="639206" y="104670"/>
                    <a:pt x="555204" y="-5353"/>
                    <a:pt x="737890" y="38463"/>
                  </a:cubicBezTo>
                  <a:cubicBezTo>
                    <a:pt x="1035758" y="67613"/>
                    <a:pt x="1233284" y="382368"/>
                    <a:pt x="1504221" y="271376"/>
                  </a:cubicBezTo>
                  <a:cubicBezTo>
                    <a:pt x="1679418" y="255449"/>
                    <a:pt x="1874913" y="152022"/>
                    <a:pt x="2014225" y="48643"/>
                  </a:cubicBezTo>
                  <a:close/>
                </a:path>
              </a:pathLst>
            </a:custGeom>
            <a:gradFill flip="none" rotWithShape="1">
              <a:gsLst>
                <a:gs pos="0">
                  <a:schemeClr val="bg1">
                    <a:alpha val="20000"/>
                    <a:lumMod val="100000"/>
                  </a:schemeClr>
                </a:gs>
                <a:gs pos="100000">
                  <a:schemeClr val="bg1">
                    <a:alpha val="0"/>
                    <a:lumMod val="100000"/>
                  </a:schemeClr>
                </a:gs>
              </a:gsLst>
              <a:path path="circle">
                <a:fillToRect l="100000" t="100000"/>
              </a:path>
              <a:tileRect r="-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4">
              <a:extLst>
                <a:ext uri="{FF2B5EF4-FFF2-40B4-BE49-F238E27FC236}">
                  <a16:creationId xmlns:a16="http://schemas.microsoft.com/office/drawing/2014/main" id="{4D537BED-14F9-611A-484D-9B7DA6385F10}"/>
                </a:ext>
              </a:extLst>
            </p:cNvPr>
            <p:cNvSpPr txBox="1"/>
            <p:nvPr/>
          </p:nvSpPr>
          <p:spPr>
            <a:xfrm>
              <a:off x="7536491" y="3504719"/>
              <a:ext cx="2132345" cy="2554545"/>
            </a:xfrm>
            <a:prstGeom prst="rect">
              <a:avLst/>
            </a:prstGeom>
            <a:noFill/>
          </p:spPr>
          <p:txBody>
            <a:bodyPr wrap="square" rtlCol="0">
              <a:spAutoFit/>
            </a:bodyPr>
            <a:lstStyle/>
            <a:p>
              <a:pPr algn="ctr"/>
              <a:r>
                <a:rPr lang="en-US" sz="1600" dirty="0">
                  <a:solidFill>
                    <a:schemeClr val="tx1">
                      <a:lumMod val="50000"/>
                    </a:schemeClr>
                  </a:solidFill>
                  <a:effectLst/>
                  <a:ea typeface="DengXian" panose="02010600030101010101" pitchFamily="2" charset="-122"/>
                </a:rPr>
                <a:t>CNNs are particularly efficient in analyzing visual data and have demonstrated high success rates in tasks such as image recognition, object detection, and facial emotion recognition.</a:t>
              </a:r>
              <a:endParaRPr lang="en-US" sz="1200" dirty="0">
                <a:solidFill>
                  <a:schemeClr val="tx1">
                    <a:lumMod val="50000"/>
                  </a:schemeClr>
                </a:solidFill>
              </a:endParaRPr>
            </a:p>
          </p:txBody>
        </p:sp>
      </p:grpSp>
      <p:grpSp>
        <p:nvGrpSpPr>
          <p:cNvPr id="12" name="Group 11">
            <a:extLst>
              <a:ext uri="{FF2B5EF4-FFF2-40B4-BE49-F238E27FC236}">
                <a16:creationId xmlns:a16="http://schemas.microsoft.com/office/drawing/2014/main" id="{0690336F-D4C8-D57C-D904-3955849E277F}"/>
              </a:ext>
            </a:extLst>
          </p:cNvPr>
          <p:cNvGrpSpPr/>
          <p:nvPr/>
        </p:nvGrpSpPr>
        <p:grpSpPr>
          <a:xfrm>
            <a:off x="9759861" y="2607790"/>
            <a:ext cx="2394910" cy="3697741"/>
            <a:chOff x="9759861" y="2607790"/>
            <a:chExt cx="2394910" cy="3697741"/>
          </a:xfrm>
        </p:grpSpPr>
        <p:sp>
          <p:nvSpPr>
            <p:cNvPr id="86" name="Freeform: Shape 85">
              <a:extLst>
                <a:ext uri="{FF2B5EF4-FFF2-40B4-BE49-F238E27FC236}">
                  <a16:creationId xmlns:a16="http://schemas.microsoft.com/office/drawing/2014/main" id="{86AD7BC8-EBEF-AF5D-2035-9CA0E5B98397}"/>
                </a:ext>
              </a:extLst>
            </p:cNvPr>
            <p:cNvSpPr/>
            <p:nvPr/>
          </p:nvSpPr>
          <p:spPr>
            <a:xfrm>
              <a:off x="9845505" y="2607790"/>
              <a:ext cx="2133851" cy="3697741"/>
            </a:xfrm>
            <a:custGeom>
              <a:avLst/>
              <a:gdLst>
                <a:gd name="connsiteX0" fmla="*/ 0 w 1838320"/>
                <a:gd name="connsiteY0" fmla="*/ 0 h 3183409"/>
                <a:gd name="connsiteX1" fmla="*/ 19620 w 1838320"/>
                <a:gd name="connsiteY1" fmla="*/ 18523 h 3183409"/>
                <a:gd name="connsiteX2" fmla="*/ 936338 w 1838320"/>
                <a:gd name="connsiteY2" fmla="*/ 298087 h 3183409"/>
                <a:gd name="connsiteX3" fmla="*/ 1789414 w 1838320"/>
                <a:gd name="connsiteY3" fmla="*/ 67337 h 3183409"/>
                <a:gd name="connsiteX4" fmla="*/ 1838320 w 1838320"/>
                <a:gd name="connsiteY4" fmla="*/ 29826 h 3183409"/>
                <a:gd name="connsiteX5" fmla="*/ 1838320 w 1838320"/>
                <a:gd name="connsiteY5" fmla="*/ 3183409 h 3183409"/>
                <a:gd name="connsiteX6" fmla="*/ 0 w 1838320"/>
                <a:gd name="connsiteY6" fmla="*/ 3183409 h 318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320" h="3183409">
                  <a:moveTo>
                    <a:pt x="0" y="0"/>
                  </a:moveTo>
                  <a:lnTo>
                    <a:pt x="19620" y="18523"/>
                  </a:lnTo>
                  <a:cubicBezTo>
                    <a:pt x="218291" y="187192"/>
                    <a:pt x="554736" y="298087"/>
                    <a:pt x="936338" y="298087"/>
                  </a:cubicBezTo>
                  <a:cubicBezTo>
                    <a:pt x="1279780" y="298087"/>
                    <a:pt x="1586645" y="208262"/>
                    <a:pt x="1789414" y="67337"/>
                  </a:cubicBezTo>
                  <a:lnTo>
                    <a:pt x="1838320" y="29826"/>
                  </a:lnTo>
                  <a:lnTo>
                    <a:pt x="1838320" y="3183409"/>
                  </a:lnTo>
                  <a:lnTo>
                    <a:pt x="0" y="3183409"/>
                  </a:lnTo>
                  <a:close/>
                </a:path>
              </a:pathLst>
            </a:custGeom>
            <a:gradFill flip="none" rotWithShape="1">
              <a:gsLst>
                <a:gs pos="0">
                  <a:schemeClr val="bg1">
                    <a:alpha val="20000"/>
                    <a:lumMod val="100000"/>
                  </a:schemeClr>
                </a:gs>
                <a:gs pos="100000">
                  <a:schemeClr val="bg1">
                    <a:alpha val="0"/>
                    <a:lumMod val="100000"/>
                  </a:schemeClr>
                </a:gs>
              </a:gsLst>
              <a:path path="circle">
                <a:fillToRect l="100000" t="100000"/>
              </a:path>
              <a:tileRect r="-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extBox 5">
              <a:extLst>
                <a:ext uri="{FF2B5EF4-FFF2-40B4-BE49-F238E27FC236}">
                  <a16:creationId xmlns:a16="http://schemas.microsoft.com/office/drawing/2014/main" id="{812FC4B3-D526-9D07-45BC-B978E53CAC2B}"/>
                </a:ext>
              </a:extLst>
            </p:cNvPr>
            <p:cNvSpPr txBox="1"/>
            <p:nvPr/>
          </p:nvSpPr>
          <p:spPr>
            <a:xfrm>
              <a:off x="9759861" y="3585404"/>
              <a:ext cx="2394910" cy="2308324"/>
            </a:xfrm>
            <a:prstGeom prst="rect">
              <a:avLst/>
            </a:prstGeom>
            <a:noFill/>
          </p:spPr>
          <p:txBody>
            <a:bodyPr wrap="square" rtlCol="0">
              <a:spAutoFit/>
            </a:bodyPr>
            <a:lstStyle/>
            <a:p>
              <a:r>
                <a:rPr lang="en-US" sz="1600" dirty="0">
                  <a:solidFill>
                    <a:schemeClr val="tx1">
                      <a:lumMod val="50000"/>
                    </a:schemeClr>
                  </a:solidFill>
                </a:rPr>
                <a:t>1)importing</a:t>
              </a:r>
              <a:r>
                <a:rPr lang="en-US" altLang="zh-CN" sz="1600" dirty="0">
                  <a:solidFill>
                    <a:schemeClr val="tx1">
                      <a:lumMod val="50000"/>
                    </a:schemeClr>
                  </a:solidFill>
                </a:rPr>
                <a:t>&amp;uploading</a:t>
              </a:r>
            </a:p>
            <a:p>
              <a:r>
                <a:rPr lang="en-US" sz="1600" dirty="0">
                  <a:solidFill>
                    <a:schemeClr val="tx1">
                      <a:lumMod val="50000"/>
                    </a:schemeClr>
                  </a:solidFill>
                </a:rPr>
                <a:t>2)Data visualization</a:t>
              </a:r>
            </a:p>
            <a:p>
              <a:r>
                <a:rPr lang="en-US" sz="1600" dirty="0">
                  <a:solidFill>
                    <a:schemeClr val="tx1">
                      <a:lumMod val="50000"/>
                    </a:schemeClr>
                  </a:solidFill>
                </a:rPr>
                <a:t>3)Convert categorical to numeric</a:t>
              </a:r>
            </a:p>
            <a:p>
              <a:r>
                <a:rPr lang="en-US" sz="1600" dirty="0">
                  <a:solidFill>
                    <a:schemeClr val="tx1">
                      <a:lumMod val="50000"/>
                    </a:schemeClr>
                  </a:solidFill>
                </a:rPr>
                <a:t>4)Data preprocessing</a:t>
              </a:r>
            </a:p>
            <a:p>
              <a:r>
                <a:rPr lang="en-US" sz="1600" dirty="0">
                  <a:solidFill>
                    <a:schemeClr val="tx1">
                      <a:lumMod val="50000"/>
                    </a:schemeClr>
                  </a:solidFill>
                </a:rPr>
                <a:t>5)Splitting</a:t>
              </a:r>
            </a:p>
            <a:p>
              <a:r>
                <a:rPr lang="en-US" sz="1600" dirty="0">
                  <a:solidFill>
                    <a:schemeClr val="tx1">
                      <a:lumMod val="50000"/>
                    </a:schemeClr>
                  </a:solidFill>
                </a:rPr>
                <a:t>6)Create CNNs model to training ,evaluating and using it to predict.</a:t>
              </a:r>
            </a:p>
          </p:txBody>
        </p:sp>
      </p:grpSp>
    </p:spTree>
    <p:extLst>
      <p:ext uri="{BB962C8B-B14F-4D97-AF65-F5344CB8AC3E}">
        <p14:creationId xmlns:p14="http://schemas.microsoft.com/office/powerpoint/2010/main" val="225187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500" fill="hold"/>
                                        <p:tgtEl>
                                          <p:spTgt spid="35"/>
                                        </p:tgtEl>
                                        <p:attrNameLst>
                                          <p:attrName>ppt_x</p:attrName>
                                        </p:attrNameLst>
                                      </p:cBhvr>
                                      <p:tavLst>
                                        <p:tav tm="0">
                                          <p:val>
                                            <p:strVal val="#ppt_x"/>
                                          </p:val>
                                        </p:tav>
                                        <p:tav tm="100000">
                                          <p:val>
                                            <p:strVal val="#ppt_x"/>
                                          </p:val>
                                        </p:tav>
                                      </p:tavLst>
                                    </p:anim>
                                    <p:anim calcmode="lin" valueType="num">
                                      <p:cBhvr additive="base">
                                        <p:cTn id="17" dur="500" fill="hold"/>
                                        <p:tgtEl>
                                          <p:spTgt spid="35"/>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 presetClass="entr" presetSubtype="4"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ppt_x"/>
                                          </p:val>
                                        </p:tav>
                                        <p:tav tm="100000">
                                          <p:val>
                                            <p:strVal val="#ppt_x"/>
                                          </p:val>
                                        </p:tav>
                                      </p:tavLst>
                                    </p:anim>
                                    <p:anim calcmode="lin" valueType="num">
                                      <p:cBhvr additive="base">
                                        <p:cTn id="26" dur="500" fill="hold"/>
                                        <p:tgtEl>
                                          <p:spTgt spid="4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500" fill="hold"/>
                                        <p:tgtEl>
                                          <p:spTgt spid="41"/>
                                        </p:tgtEl>
                                        <p:attrNameLst>
                                          <p:attrName>ppt_x</p:attrName>
                                        </p:attrNameLst>
                                      </p:cBhvr>
                                      <p:tavLst>
                                        <p:tav tm="0">
                                          <p:val>
                                            <p:strVal val="#ppt_x"/>
                                          </p:val>
                                        </p:tav>
                                        <p:tav tm="100000">
                                          <p:val>
                                            <p:strVal val="#ppt_x"/>
                                          </p:val>
                                        </p:tav>
                                      </p:tavLst>
                                    </p:anim>
                                    <p:anim calcmode="lin" valueType="num">
                                      <p:cBhvr additive="base">
                                        <p:cTn id="35" dur="500" fill="hold"/>
                                        <p:tgtEl>
                                          <p:spTgt spid="41"/>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childTnLst>
                          </p:cTn>
                        </p:par>
                        <p:par>
                          <p:cTn id="40" fill="hold">
                            <p:stCondLst>
                              <p:cond delay="2000"/>
                            </p:stCondLst>
                            <p:childTnLst>
                              <p:par>
                                <p:cTn id="41" presetID="2" presetClass="entr" presetSubtype="4" fill="hold" grpId="0" nodeType="after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0" grpId="0" animBg="1"/>
      <p:bldP spid="35" grpId="0" animBg="1"/>
      <p:bldP spid="41" grpId="0" animBg="1"/>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A9B31-3315-F891-2CD7-EB0B9D67ADFC}"/>
              </a:ext>
            </a:extLst>
          </p:cNvPr>
          <p:cNvSpPr txBox="1"/>
          <p:nvPr/>
        </p:nvSpPr>
        <p:spPr>
          <a:xfrm>
            <a:off x="4433326" y="340731"/>
            <a:ext cx="3616960" cy="523220"/>
          </a:xfrm>
          <a:prstGeom prst="rect">
            <a:avLst/>
          </a:prstGeom>
          <a:noFill/>
        </p:spPr>
        <p:txBody>
          <a:bodyPr wrap="square" rtlCol="0">
            <a:spAutoFit/>
          </a:bodyPr>
          <a:lstStyle/>
          <a:p>
            <a:pPr algn="ctr"/>
            <a:r>
              <a:rPr lang="en-US" sz="2800" b="1" dirty="0">
                <a:effectLst/>
                <a:latin typeface="+mj-lt"/>
                <a:ea typeface="DengXian" panose="02010600030101010101" pitchFamily="2" charset="-122"/>
              </a:rPr>
              <a:t>Literature Review</a:t>
            </a:r>
            <a:endParaRPr lang="en-US" sz="4400" dirty="0">
              <a:latin typeface="+mj-lt"/>
            </a:endParaRPr>
          </a:p>
        </p:txBody>
      </p:sp>
      <p:cxnSp>
        <p:nvCxnSpPr>
          <p:cNvPr id="5" name="Straight Connector 4">
            <a:extLst>
              <a:ext uri="{FF2B5EF4-FFF2-40B4-BE49-F238E27FC236}">
                <a16:creationId xmlns:a16="http://schemas.microsoft.com/office/drawing/2014/main" id="{8DE4E679-9630-F52F-DFB0-FD1BE836E896}"/>
              </a:ext>
            </a:extLst>
          </p:cNvPr>
          <p:cNvCxnSpPr>
            <a:cxnSpLocks/>
          </p:cNvCxnSpPr>
          <p:nvPr/>
        </p:nvCxnSpPr>
        <p:spPr>
          <a:xfrm>
            <a:off x="584613" y="615384"/>
            <a:ext cx="36465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4FE925E-34AB-31A9-3BB3-FD7D10563BCE}"/>
              </a:ext>
            </a:extLst>
          </p:cNvPr>
          <p:cNvCxnSpPr>
            <a:cxnSpLocks/>
          </p:cNvCxnSpPr>
          <p:nvPr/>
        </p:nvCxnSpPr>
        <p:spPr>
          <a:xfrm>
            <a:off x="8188958" y="616220"/>
            <a:ext cx="3646583"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6EDA780-4F8E-4C7D-6D73-8A51136BE7E3}"/>
              </a:ext>
            </a:extLst>
          </p:cNvPr>
          <p:cNvSpPr txBox="1"/>
          <p:nvPr/>
        </p:nvSpPr>
        <p:spPr>
          <a:xfrm>
            <a:off x="375646" y="734555"/>
            <a:ext cx="11250928" cy="5909310"/>
          </a:xfrm>
          <a:prstGeom prst="rect">
            <a:avLst/>
          </a:prstGeom>
          <a:noFill/>
        </p:spPr>
        <p:txBody>
          <a:bodyPr wrap="square" rtlCol="0">
            <a:spAutoFit/>
          </a:bodyPr>
          <a:lstStyle/>
          <a:p>
            <a:pPr algn="just"/>
            <a:r>
              <a:rPr lang="en-US" sz="1800" b="1" dirty="0">
                <a:solidFill>
                  <a:schemeClr val="tx1">
                    <a:lumMod val="50000"/>
                  </a:schemeClr>
                </a:solidFill>
                <a:effectLst/>
                <a:latin typeface="+mj-lt"/>
                <a:ea typeface="DengXian" panose="02010600030101010101" pitchFamily="2" charset="-122"/>
              </a:rPr>
              <a:t>(Ghaffar, F. 2020) </a:t>
            </a:r>
            <a:r>
              <a:rPr lang="en-US" sz="1800" dirty="0">
                <a:solidFill>
                  <a:schemeClr val="tx1">
                    <a:lumMod val="50000"/>
                  </a:schemeClr>
                </a:solidFill>
                <a:effectLst/>
                <a:ea typeface="DengXian" panose="02010600030101010101" pitchFamily="2" charset="-122"/>
              </a:rPr>
              <a:t>:</a:t>
            </a:r>
          </a:p>
          <a:p>
            <a:pPr algn="just"/>
            <a:r>
              <a:rPr lang="en-US" dirty="0">
                <a:solidFill>
                  <a:schemeClr val="tx1">
                    <a:lumMod val="50000"/>
                  </a:schemeClr>
                </a:solidFill>
                <a:ea typeface="DengXian" panose="02010600030101010101" pitchFamily="2" charset="-122"/>
              </a:rPr>
              <a:t>He d</a:t>
            </a:r>
            <a:r>
              <a:rPr lang="en-US" dirty="0">
                <a:solidFill>
                  <a:schemeClr val="tx1">
                    <a:lumMod val="50000"/>
                  </a:schemeClr>
                </a:solidFill>
              </a:rPr>
              <a:t>eveloped a CNN-based system to recognize seven basic emotional expressions. Images from the JAFFE and KDEF datasets were pre-processed—using face detection and data augmentation—to improve predictive performance. The architecture involved three convolutional layers followed by pooling and dense layers. Although experimenting with different numbers of CNN layers showed that adding more layers increased execution time without significantly boosting accuracy, the best configuration reached 70.2% accuracy, outperforming established networks like AlexNet and ResNet.</a:t>
            </a:r>
          </a:p>
          <a:p>
            <a:pPr algn="just"/>
            <a:endParaRPr lang="en-US" dirty="0">
              <a:solidFill>
                <a:schemeClr val="tx1">
                  <a:lumMod val="50000"/>
                </a:schemeClr>
              </a:solidFill>
            </a:endParaRPr>
          </a:p>
          <a:p>
            <a:pPr algn="just"/>
            <a:r>
              <a:rPr lang="en-US" dirty="0">
                <a:solidFill>
                  <a:schemeClr val="tx1">
                    <a:lumMod val="50000"/>
                  </a:schemeClr>
                </a:solidFill>
              </a:rPr>
              <a:t>Two approaches were explored: one using autoencoders and another utilizing an 8-layer CNN. The autoencoder method compressed image data into lower-dimensional representations and delivered moderate performance, particularly on a homogenous dataset (Japanese women). In contrast, the 8-layer CNN provided better results on the LFW dataset, indicating that the CNN approach is more robust for emotion recognition tasks when trained on similar image resolutions and representations.</a:t>
            </a:r>
          </a:p>
          <a:p>
            <a:pPr algn="r"/>
            <a:r>
              <a:rPr lang="en-US" sz="1800" kern="100" dirty="0">
                <a:solidFill>
                  <a:schemeClr val="tx1">
                    <a:lumMod val="50000"/>
                  </a:schemeClr>
                </a:solidFill>
                <a:effectLst/>
                <a:ea typeface="DengXian" panose="02010600030101010101" pitchFamily="2" charset="-122"/>
                <a:cs typeface="Arial" panose="020B0604020202020204" pitchFamily="34" charset="0"/>
              </a:rPr>
              <a:t> </a:t>
            </a:r>
            <a:r>
              <a:rPr lang="en-US" sz="1800" b="1" kern="100" dirty="0">
                <a:solidFill>
                  <a:schemeClr val="tx1">
                    <a:lumMod val="50000"/>
                  </a:schemeClr>
                </a:solidFill>
                <a:effectLst/>
                <a:latin typeface="+mj-lt"/>
                <a:ea typeface="DengXian" panose="02010600030101010101" pitchFamily="2" charset="-122"/>
                <a:cs typeface="Arial" panose="020B0604020202020204" pitchFamily="34" charset="0"/>
              </a:rPr>
              <a:t>(Dachapally, P. R., 2017)</a:t>
            </a:r>
          </a:p>
          <a:p>
            <a:pPr algn="just"/>
            <a:endParaRPr lang="en-US" sz="1800" kern="100" dirty="0">
              <a:solidFill>
                <a:schemeClr val="tx1">
                  <a:lumMod val="50000"/>
                </a:schemeClr>
              </a:solidFill>
              <a:effectLst/>
              <a:ea typeface="DengXian" panose="02010600030101010101" pitchFamily="2" charset="-122"/>
              <a:cs typeface="Arial" panose="020B0604020202020204" pitchFamily="34" charset="0"/>
            </a:endParaRPr>
          </a:p>
          <a:p>
            <a:pPr algn="just"/>
            <a:r>
              <a:rPr lang="en-US" b="1" kern="100" dirty="0">
                <a:solidFill>
                  <a:schemeClr val="tx1">
                    <a:lumMod val="50000"/>
                  </a:schemeClr>
                </a:solidFill>
                <a:effectLst/>
                <a:latin typeface="+mj-lt"/>
                <a:ea typeface="DengXian" panose="02010600030101010101" pitchFamily="2" charset="-122"/>
                <a:cs typeface="Arial" panose="020B0604020202020204" pitchFamily="34" charset="0"/>
              </a:rPr>
              <a:t>(Ahmed, T. U., Hossain, S., Hossain, M. S., ul Islam, R., &amp; Andersson, K. 2019)</a:t>
            </a:r>
            <a:r>
              <a:rPr lang="en-US" b="1" kern="100" dirty="0">
                <a:solidFill>
                  <a:schemeClr val="tx1">
                    <a:lumMod val="50000"/>
                  </a:schemeClr>
                </a:solidFill>
                <a:effectLst/>
                <a:ea typeface="DengXian" panose="02010600030101010101" pitchFamily="2" charset="-122"/>
                <a:cs typeface="Arial" panose="020B0604020202020204" pitchFamily="34" charset="0"/>
              </a:rPr>
              <a:t> </a:t>
            </a:r>
            <a:r>
              <a:rPr lang="en-US" sz="1800" kern="100" dirty="0">
                <a:solidFill>
                  <a:schemeClr val="tx1">
                    <a:lumMod val="50000"/>
                  </a:schemeClr>
                </a:solidFill>
                <a:effectLst/>
                <a:ea typeface="DengXian" panose="02010600030101010101" pitchFamily="2" charset="-122"/>
                <a:cs typeface="Arial" panose="020B0604020202020204" pitchFamily="34" charset="0"/>
              </a:rPr>
              <a:t>:</a:t>
            </a:r>
          </a:p>
          <a:p>
            <a:pPr algn="just"/>
            <a:r>
              <a:rPr lang="en-US" sz="1800" kern="100" dirty="0">
                <a:solidFill>
                  <a:schemeClr val="tx1">
                    <a:lumMod val="50000"/>
                  </a:schemeClr>
                </a:solidFill>
                <a:effectLst/>
                <a:ea typeface="DengXian" panose="02010600030101010101" pitchFamily="2" charset="-122"/>
                <a:cs typeface="Arial" panose="020B0604020202020204" pitchFamily="34" charset="0"/>
              </a:rPr>
              <a:t>T</a:t>
            </a:r>
            <a:r>
              <a:rPr lang="en-US" dirty="0">
                <a:solidFill>
                  <a:schemeClr val="tx1">
                    <a:lumMod val="50000"/>
                  </a:schemeClr>
                </a:solidFill>
              </a:rPr>
              <a:t>hey emphasizes the benefits of combining data augmentation with CNNs. By integrating images from multiple datasets and applying various augmentation techniques, the model achieved high validation accuracy. Additionally, a user-friendly graphical interface was developed to facilitate real-time validation. The study underscores the importance of balanced recognition rates across all seven emotion classes. A</a:t>
            </a:r>
            <a:r>
              <a:rPr lang="en-US" altLang="zh-CN" dirty="0">
                <a:solidFill>
                  <a:schemeClr val="tx1">
                    <a:lumMod val="50000"/>
                  </a:schemeClr>
                </a:solidFill>
              </a:rPr>
              <a:t>nd the accuracy for the model was 96.24%</a:t>
            </a:r>
            <a:endParaRPr lang="en-US" dirty="0">
              <a:solidFill>
                <a:schemeClr val="tx1">
                  <a:lumMod val="50000"/>
                </a:schemeClr>
              </a:solidFill>
            </a:endParaRPr>
          </a:p>
        </p:txBody>
      </p:sp>
    </p:spTree>
    <p:extLst>
      <p:ext uri="{BB962C8B-B14F-4D97-AF65-F5344CB8AC3E}">
        <p14:creationId xmlns:p14="http://schemas.microsoft.com/office/powerpoint/2010/main" val="2204130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grpSp>
        <p:nvGrpSpPr>
          <p:cNvPr id="2075" name="Country Distribution">
            <a:extLst>
              <a:ext uri="{FF2B5EF4-FFF2-40B4-BE49-F238E27FC236}">
                <a16:creationId xmlns:a16="http://schemas.microsoft.com/office/drawing/2014/main" id="{8473EEFF-297A-280C-D3D5-E1DF603C9DC4}"/>
              </a:ext>
            </a:extLst>
          </p:cNvPr>
          <p:cNvGrpSpPr/>
          <p:nvPr/>
        </p:nvGrpSpPr>
        <p:grpSpPr>
          <a:xfrm>
            <a:off x="9205314" y="3876884"/>
            <a:ext cx="2250000" cy="2981116"/>
            <a:chOff x="9205314" y="3876884"/>
            <a:chExt cx="2250000" cy="2981116"/>
          </a:xfrm>
        </p:grpSpPr>
        <p:sp>
          <p:nvSpPr>
            <p:cNvPr id="17" name="Rectangle: Rounded Corners 16">
              <a:extLst>
                <a:ext uri="{FF2B5EF4-FFF2-40B4-BE49-F238E27FC236}">
                  <a16:creationId xmlns:a16="http://schemas.microsoft.com/office/drawing/2014/main" id="{3F516801-B2A0-30C7-BC7B-D17C3C61FE26}"/>
                </a:ext>
              </a:extLst>
            </p:cNvPr>
            <p:cNvSpPr/>
            <p:nvPr/>
          </p:nvSpPr>
          <p:spPr>
            <a:xfrm>
              <a:off x="9205314" y="3876884"/>
              <a:ext cx="2250000" cy="2981116"/>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Picture 30" descr="A blue circle with green and blue triangles&#10;&#10;AI-generated content may be incorrect.">
              <a:extLst>
                <a:ext uri="{FF2B5EF4-FFF2-40B4-BE49-F238E27FC236}">
                  <a16:creationId xmlns:a16="http://schemas.microsoft.com/office/drawing/2014/main" id="{6FA64E36-A932-5377-20B6-F657E4B3B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23658" y="4982927"/>
              <a:ext cx="1813311" cy="1678237"/>
            </a:xfrm>
            <a:prstGeom prst="rect">
              <a:avLst/>
            </a:prstGeom>
          </p:spPr>
        </p:pic>
      </p:grpSp>
      <p:grpSp>
        <p:nvGrpSpPr>
          <p:cNvPr id="2049" name="Box plot image">
            <a:extLst>
              <a:ext uri="{FF2B5EF4-FFF2-40B4-BE49-F238E27FC236}">
                <a16:creationId xmlns:a16="http://schemas.microsoft.com/office/drawing/2014/main" id="{609895DA-1CB2-5C38-EE32-3B551DF373B3}"/>
              </a:ext>
            </a:extLst>
          </p:cNvPr>
          <p:cNvGrpSpPr/>
          <p:nvPr/>
        </p:nvGrpSpPr>
        <p:grpSpPr>
          <a:xfrm>
            <a:off x="6372005" y="3876884"/>
            <a:ext cx="2250000" cy="2981116"/>
            <a:chOff x="6372005" y="3876884"/>
            <a:chExt cx="2250000" cy="2981116"/>
          </a:xfrm>
        </p:grpSpPr>
        <p:sp>
          <p:nvSpPr>
            <p:cNvPr id="16" name="Rectangle: Rounded Corners 15">
              <a:extLst>
                <a:ext uri="{FF2B5EF4-FFF2-40B4-BE49-F238E27FC236}">
                  <a16:creationId xmlns:a16="http://schemas.microsoft.com/office/drawing/2014/main" id="{C2F13C78-53E7-7330-C905-654E97A85B68}"/>
                </a:ext>
              </a:extLst>
            </p:cNvPr>
            <p:cNvSpPr/>
            <p:nvPr/>
          </p:nvSpPr>
          <p:spPr>
            <a:xfrm>
              <a:off x="6372005" y="3876884"/>
              <a:ext cx="2250000" cy="2981116"/>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descr="A graph of a box plot&#10;&#10;AI-generated content may be incorrect.">
              <a:extLst>
                <a:ext uri="{FF2B5EF4-FFF2-40B4-BE49-F238E27FC236}">
                  <a16:creationId xmlns:a16="http://schemas.microsoft.com/office/drawing/2014/main" id="{3523988D-7174-2F20-7848-7FA145602F3C}"/>
                </a:ext>
              </a:extLst>
            </p:cNvPr>
            <p:cNvPicPr>
              <a:picLocks noChangeAspect="1"/>
            </p:cNvPicPr>
            <p:nvPr/>
          </p:nvPicPr>
          <p:blipFill>
            <a:blip r:embed="rId3"/>
            <a:stretch>
              <a:fillRect/>
            </a:stretch>
          </p:blipFill>
          <p:spPr>
            <a:xfrm>
              <a:off x="6456507" y="4984764"/>
              <a:ext cx="2080993" cy="1676400"/>
            </a:xfrm>
            <a:prstGeom prst="rect">
              <a:avLst/>
            </a:prstGeom>
          </p:spPr>
        </p:pic>
      </p:grpSp>
      <p:grpSp>
        <p:nvGrpSpPr>
          <p:cNvPr id="63" name="Age Distribution(KDE)p">
            <a:extLst>
              <a:ext uri="{FF2B5EF4-FFF2-40B4-BE49-F238E27FC236}">
                <a16:creationId xmlns:a16="http://schemas.microsoft.com/office/drawing/2014/main" id="{1A1EEB36-61D8-440E-ECAD-E61D001982A1}"/>
              </a:ext>
            </a:extLst>
          </p:cNvPr>
          <p:cNvGrpSpPr/>
          <p:nvPr/>
        </p:nvGrpSpPr>
        <p:grpSpPr>
          <a:xfrm>
            <a:off x="3544344" y="3876884"/>
            <a:ext cx="2250000" cy="2981116"/>
            <a:chOff x="3544344" y="3876884"/>
            <a:chExt cx="2250000" cy="2981116"/>
          </a:xfrm>
        </p:grpSpPr>
        <p:sp>
          <p:nvSpPr>
            <p:cNvPr id="15" name="Rectangle: Rounded Corners 14">
              <a:extLst>
                <a:ext uri="{FF2B5EF4-FFF2-40B4-BE49-F238E27FC236}">
                  <a16:creationId xmlns:a16="http://schemas.microsoft.com/office/drawing/2014/main" id="{14934745-F823-2D95-74B4-47EC70AD4325}"/>
                </a:ext>
              </a:extLst>
            </p:cNvPr>
            <p:cNvSpPr/>
            <p:nvPr/>
          </p:nvSpPr>
          <p:spPr>
            <a:xfrm>
              <a:off x="3544344" y="3876884"/>
              <a:ext cx="2250000" cy="2981116"/>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descr="A graph of age distribution&#10;&#10;AI-generated content may be incorrect.">
              <a:extLst>
                <a:ext uri="{FF2B5EF4-FFF2-40B4-BE49-F238E27FC236}">
                  <a16:creationId xmlns:a16="http://schemas.microsoft.com/office/drawing/2014/main" id="{536DEB27-2C42-21DD-C535-E07820C6C218}"/>
                </a:ext>
              </a:extLst>
            </p:cNvPr>
            <p:cNvPicPr>
              <a:picLocks noChangeAspect="1"/>
            </p:cNvPicPr>
            <p:nvPr/>
          </p:nvPicPr>
          <p:blipFill>
            <a:blip r:embed="rId4"/>
            <a:stretch>
              <a:fillRect/>
            </a:stretch>
          </p:blipFill>
          <p:spPr>
            <a:xfrm>
              <a:off x="3643096" y="4982927"/>
              <a:ext cx="2089030" cy="1599873"/>
            </a:xfrm>
            <a:prstGeom prst="rect">
              <a:avLst/>
            </a:prstGeom>
          </p:spPr>
        </p:pic>
      </p:grpSp>
      <p:grpSp>
        <p:nvGrpSpPr>
          <p:cNvPr id="61" name="Gender(bar chart)">
            <a:extLst>
              <a:ext uri="{FF2B5EF4-FFF2-40B4-BE49-F238E27FC236}">
                <a16:creationId xmlns:a16="http://schemas.microsoft.com/office/drawing/2014/main" id="{3CD31200-1437-D1DA-7A5F-802534BEAD7D}"/>
              </a:ext>
            </a:extLst>
          </p:cNvPr>
          <p:cNvGrpSpPr/>
          <p:nvPr/>
        </p:nvGrpSpPr>
        <p:grpSpPr>
          <a:xfrm>
            <a:off x="815435" y="3876884"/>
            <a:ext cx="2250000" cy="2981116"/>
            <a:chOff x="815435" y="3876884"/>
            <a:chExt cx="2250000" cy="2981116"/>
          </a:xfrm>
        </p:grpSpPr>
        <p:sp>
          <p:nvSpPr>
            <p:cNvPr id="14" name="Rectangle: Rounded Corners 13">
              <a:extLst>
                <a:ext uri="{FF2B5EF4-FFF2-40B4-BE49-F238E27FC236}">
                  <a16:creationId xmlns:a16="http://schemas.microsoft.com/office/drawing/2014/main" id="{1AF3544C-DA2F-CDB7-F079-D115620E8AB7}"/>
                </a:ext>
              </a:extLst>
            </p:cNvPr>
            <p:cNvSpPr/>
            <p:nvPr/>
          </p:nvSpPr>
          <p:spPr>
            <a:xfrm>
              <a:off x="815435" y="3876884"/>
              <a:ext cx="2250000" cy="2981116"/>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descr="A blue and pink rectangular graph&#10;&#10;AI-generated content may be incorrect.">
              <a:extLst>
                <a:ext uri="{FF2B5EF4-FFF2-40B4-BE49-F238E27FC236}">
                  <a16:creationId xmlns:a16="http://schemas.microsoft.com/office/drawing/2014/main" id="{21F53FAF-3F3A-9292-6B01-7EDB071CE6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9898" y="4982927"/>
              <a:ext cx="1952258" cy="1648863"/>
            </a:xfrm>
            <a:prstGeom prst="rect">
              <a:avLst/>
            </a:prstGeom>
          </p:spPr>
        </p:pic>
      </p:grpSp>
      <p:sp useBgFill="1">
        <p:nvSpPr>
          <p:cNvPr id="2078" name="Rectangle 2077">
            <a:extLst>
              <a:ext uri="{FF2B5EF4-FFF2-40B4-BE49-F238E27FC236}">
                <a16:creationId xmlns:a16="http://schemas.microsoft.com/office/drawing/2014/main" id="{E9EE6829-1457-BAF5-276A-7DF5EAAB3E57}"/>
              </a:ext>
            </a:extLst>
          </p:cNvPr>
          <p:cNvSpPr/>
          <p:nvPr/>
        </p:nvSpPr>
        <p:spPr>
          <a:xfrm>
            <a:off x="0" y="0"/>
            <a:ext cx="12192000" cy="45594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50" name="Country Distribution">
            <a:extLst>
              <a:ext uri="{FF2B5EF4-FFF2-40B4-BE49-F238E27FC236}">
                <a16:creationId xmlns:a16="http://schemas.microsoft.com/office/drawing/2014/main" id="{F51BB6C0-B004-6504-3B4A-F2BD5AE797CC}"/>
              </a:ext>
            </a:extLst>
          </p:cNvPr>
          <p:cNvGrpSpPr/>
          <p:nvPr/>
        </p:nvGrpSpPr>
        <p:grpSpPr>
          <a:xfrm>
            <a:off x="9100914" y="3614827"/>
            <a:ext cx="2458800" cy="1278000"/>
            <a:chOff x="9100914" y="3614827"/>
            <a:chExt cx="2458800" cy="1278000"/>
          </a:xfrm>
        </p:grpSpPr>
        <p:sp>
          <p:nvSpPr>
            <p:cNvPr id="12" name="Flowchart: Document 11">
              <a:extLst>
                <a:ext uri="{FF2B5EF4-FFF2-40B4-BE49-F238E27FC236}">
                  <a16:creationId xmlns:a16="http://schemas.microsoft.com/office/drawing/2014/main" id="{6DF87F80-DD12-761B-9251-9C0E93049663}"/>
                </a:ext>
              </a:extLst>
            </p:cNvPr>
            <p:cNvSpPr/>
            <p:nvPr/>
          </p:nvSpPr>
          <p:spPr>
            <a:xfrm>
              <a:off x="9100914"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F9146B29-F6C1-672F-5048-0C9E397E1A8D}"/>
                </a:ext>
              </a:extLst>
            </p:cNvPr>
            <p:cNvSpPr txBox="1"/>
            <p:nvPr/>
          </p:nvSpPr>
          <p:spPr>
            <a:xfrm rot="16200000">
              <a:off x="9870704" y="3246218"/>
              <a:ext cx="923330"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Country Distribution</a:t>
              </a:r>
            </a:p>
          </p:txBody>
        </p:sp>
      </p:grpSp>
      <p:grpSp>
        <p:nvGrpSpPr>
          <p:cNvPr id="2048" name="Box Plot of Age by Gender">
            <a:extLst>
              <a:ext uri="{FF2B5EF4-FFF2-40B4-BE49-F238E27FC236}">
                <a16:creationId xmlns:a16="http://schemas.microsoft.com/office/drawing/2014/main" id="{AA904FD6-4D69-1C9C-187E-09C0AD2926A8}"/>
              </a:ext>
            </a:extLst>
          </p:cNvPr>
          <p:cNvGrpSpPr/>
          <p:nvPr/>
        </p:nvGrpSpPr>
        <p:grpSpPr>
          <a:xfrm>
            <a:off x="6273253" y="3614827"/>
            <a:ext cx="2458800" cy="1278000"/>
            <a:chOff x="6273253" y="3614827"/>
            <a:chExt cx="2458800" cy="1278000"/>
          </a:xfrm>
        </p:grpSpPr>
        <p:sp>
          <p:nvSpPr>
            <p:cNvPr id="8" name="Flowchart: Document 7">
              <a:extLst>
                <a:ext uri="{FF2B5EF4-FFF2-40B4-BE49-F238E27FC236}">
                  <a16:creationId xmlns:a16="http://schemas.microsoft.com/office/drawing/2014/main" id="{A2AEB52D-6BC1-BE1B-58C4-12FC2F29658A}"/>
                </a:ext>
              </a:extLst>
            </p:cNvPr>
            <p:cNvSpPr/>
            <p:nvPr/>
          </p:nvSpPr>
          <p:spPr>
            <a:xfrm>
              <a:off x="6273253"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4" name="TextBox 23">
              <a:extLst>
                <a:ext uri="{FF2B5EF4-FFF2-40B4-BE49-F238E27FC236}">
                  <a16:creationId xmlns:a16="http://schemas.microsoft.com/office/drawing/2014/main" id="{9013E359-A4E6-C218-33DB-B3BA1A30C12A}"/>
                </a:ext>
              </a:extLst>
            </p:cNvPr>
            <p:cNvSpPr txBox="1"/>
            <p:nvPr/>
          </p:nvSpPr>
          <p:spPr>
            <a:xfrm rot="16200000">
              <a:off x="7096895" y="3307773"/>
              <a:ext cx="800219" cy="1881352"/>
            </a:xfrm>
            <a:prstGeom prst="rect">
              <a:avLst/>
            </a:prstGeom>
            <a:noFill/>
          </p:spPr>
          <p:txBody>
            <a:bodyPr vert="eaVert" wrap="square" rtlCol="0">
              <a:spAutoFit/>
            </a:bodyPr>
            <a:lstStyle/>
            <a:p>
              <a:pPr algn="ctr"/>
              <a:r>
                <a:rPr lang="en-US" sz="2000" dirty="0">
                  <a:solidFill>
                    <a:schemeClr val="tx2">
                      <a:lumMod val="40000"/>
                      <a:lumOff val="60000"/>
                    </a:schemeClr>
                  </a:solidFill>
                </a:rPr>
                <a:t>Box Plot of Age by Gender</a:t>
              </a:r>
            </a:p>
          </p:txBody>
        </p:sp>
      </p:grpSp>
      <p:grpSp>
        <p:nvGrpSpPr>
          <p:cNvPr id="62" name="Age Distribution">
            <a:extLst>
              <a:ext uri="{FF2B5EF4-FFF2-40B4-BE49-F238E27FC236}">
                <a16:creationId xmlns:a16="http://schemas.microsoft.com/office/drawing/2014/main" id="{AFDBAC26-FD16-9127-380E-DC69F732730B}"/>
              </a:ext>
            </a:extLst>
          </p:cNvPr>
          <p:cNvGrpSpPr/>
          <p:nvPr/>
        </p:nvGrpSpPr>
        <p:grpSpPr>
          <a:xfrm>
            <a:off x="3434296" y="3578747"/>
            <a:ext cx="2458800" cy="1314080"/>
            <a:chOff x="3434296" y="3578747"/>
            <a:chExt cx="2458800" cy="1314080"/>
          </a:xfrm>
        </p:grpSpPr>
        <p:sp>
          <p:nvSpPr>
            <p:cNvPr id="9" name="Flowchart: Document 8">
              <a:extLst>
                <a:ext uri="{FF2B5EF4-FFF2-40B4-BE49-F238E27FC236}">
                  <a16:creationId xmlns:a16="http://schemas.microsoft.com/office/drawing/2014/main" id="{B13E6BEF-AB6D-6C3A-7423-ACC74BDC21A9}"/>
                </a:ext>
              </a:extLst>
            </p:cNvPr>
            <p:cNvSpPr/>
            <p:nvPr/>
          </p:nvSpPr>
          <p:spPr>
            <a:xfrm>
              <a:off x="3434296"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5" name="TextBox 24">
              <a:extLst>
                <a:ext uri="{FF2B5EF4-FFF2-40B4-BE49-F238E27FC236}">
                  <a16:creationId xmlns:a16="http://schemas.microsoft.com/office/drawing/2014/main" id="{C1749332-33A8-55C7-98F6-CFF32805CB11}"/>
                </a:ext>
              </a:extLst>
            </p:cNvPr>
            <p:cNvSpPr txBox="1"/>
            <p:nvPr/>
          </p:nvSpPr>
          <p:spPr>
            <a:xfrm rot="16200000">
              <a:off x="4134174" y="3192069"/>
              <a:ext cx="1107996" cy="1881352"/>
            </a:xfrm>
            <a:prstGeom prst="rect">
              <a:avLst/>
            </a:prstGeom>
            <a:noFill/>
          </p:spPr>
          <p:txBody>
            <a:bodyPr vert="eaVert" wrap="square" rtlCol="0">
              <a:spAutoFit/>
            </a:bodyPr>
            <a:lstStyle/>
            <a:p>
              <a:pPr algn="ctr"/>
              <a:r>
                <a:rPr lang="en-US" sz="2000" dirty="0">
                  <a:solidFill>
                    <a:schemeClr val="tx2">
                      <a:lumMod val="40000"/>
                      <a:lumOff val="60000"/>
                    </a:schemeClr>
                  </a:solidFill>
                </a:rPr>
                <a:t>Age</a:t>
              </a:r>
              <a:r>
                <a:rPr lang="en-US" altLang="zh-CN" sz="2000" dirty="0">
                  <a:solidFill>
                    <a:schemeClr val="tx2">
                      <a:lumMod val="40000"/>
                      <a:lumOff val="60000"/>
                    </a:schemeClr>
                  </a:solidFill>
                </a:rPr>
                <a:t> Distribution</a:t>
              </a:r>
            </a:p>
            <a:p>
              <a:pPr algn="ctr"/>
              <a:r>
                <a:rPr lang="en-US" sz="2000" dirty="0">
                  <a:solidFill>
                    <a:schemeClr val="tx2">
                      <a:lumMod val="40000"/>
                      <a:lumOff val="60000"/>
                    </a:schemeClr>
                  </a:solidFill>
                </a:rPr>
                <a:t>(KDE)</a:t>
              </a:r>
            </a:p>
          </p:txBody>
        </p:sp>
      </p:grpSp>
      <p:grpSp>
        <p:nvGrpSpPr>
          <p:cNvPr id="60" name="Gender">
            <a:extLst>
              <a:ext uri="{FF2B5EF4-FFF2-40B4-BE49-F238E27FC236}">
                <a16:creationId xmlns:a16="http://schemas.microsoft.com/office/drawing/2014/main" id="{51F78DBB-9320-E8CC-7371-A9C8D3897805}"/>
              </a:ext>
            </a:extLst>
          </p:cNvPr>
          <p:cNvGrpSpPr/>
          <p:nvPr/>
        </p:nvGrpSpPr>
        <p:grpSpPr>
          <a:xfrm>
            <a:off x="711035" y="3614827"/>
            <a:ext cx="2458800" cy="1278000"/>
            <a:chOff x="711035" y="3614827"/>
            <a:chExt cx="2458800" cy="1278000"/>
          </a:xfrm>
        </p:grpSpPr>
        <p:sp>
          <p:nvSpPr>
            <p:cNvPr id="10" name="Flowchart: Document 9">
              <a:extLst>
                <a:ext uri="{FF2B5EF4-FFF2-40B4-BE49-F238E27FC236}">
                  <a16:creationId xmlns:a16="http://schemas.microsoft.com/office/drawing/2014/main" id="{5DD26507-FC91-5617-73E8-6BCB3518F33E}"/>
                </a:ext>
              </a:extLst>
            </p:cNvPr>
            <p:cNvSpPr/>
            <p:nvPr/>
          </p:nvSpPr>
          <p:spPr>
            <a:xfrm>
              <a:off x="711035"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537A72C0-E168-658C-BBE8-56F01BBCF53D}"/>
                </a:ext>
              </a:extLst>
            </p:cNvPr>
            <p:cNvSpPr txBox="1"/>
            <p:nvPr/>
          </p:nvSpPr>
          <p:spPr>
            <a:xfrm rot="16200000">
              <a:off x="1444363" y="3307773"/>
              <a:ext cx="923330"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G</a:t>
              </a:r>
              <a:r>
                <a:rPr lang="en-US" altLang="zh-CN" sz="2400" dirty="0">
                  <a:solidFill>
                    <a:schemeClr val="tx2">
                      <a:lumMod val="40000"/>
                      <a:lumOff val="60000"/>
                    </a:schemeClr>
                  </a:solidFill>
                </a:rPr>
                <a:t>ender Distribution</a:t>
              </a:r>
              <a:endParaRPr lang="en-US" sz="2400" dirty="0">
                <a:solidFill>
                  <a:schemeClr val="tx2">
                    <a:lumMod val="40000"/>
                    <a:lumOff val="60000"/>
                  </a:schemeClr>
                </a:solidFill>
              </a:endParaRPr>
            </a:p>
          </p:txBody>
        </p:sp>
      </p:grpSp>
      <p:grpSp>
        <p:nvGrpSpPr>
          <p:cNvPr id="59" name="DATASET(images)">
            <a:extLst>
              <a:ext uri="{FF2B5EF4-FFF2-40B4-BE49-F238E27FC236}">
                <a16:creationId xmlns:a16="http://schemas.microsoft.com/office/drawing/2014/main" id="{F2C9A6B1-0FA1-CE10-D2A3-654F21A7175D}"/>
              </a:ext>
            </a:extLst>
          </p:cNvPr>
          <p:cNvGrpSpPr/>
          <p:nvPr/>
        </p:nvGrpSpPr>
        <p:grpSpPr>
          <a:xfrm>
            <a:off x="1130704" y="1111849"/>
            <a:ext cx="10418308" cy="2250000"/>
            <a:chOff x="1130704" y="1111849"/>
            <a:chExt cx="10418308" cy="2250000"/>
          </a:xfrm>
        </p:grpSpPr>
        <p:sp>
          <p:nvSpPr>
            <p:cNvPr id="13" name="Rectangle: Rounded Corners 12">
              <a:extLst>
                <a:ext uri="{FF2B5EF4-FFF2-40B4-BE49-F238E27FC236}">
                  <a16:creationId xmlns:a16="http://schemas.microsoft.com/office/drawing/2014/main" id="{C3399E1F-2407-098D-DED6-15A6B1A48298}"/>
                </a:ext>
              </a:extLst>
            </p:cNvPr>
            <p:cNvSpPr/>
            <p:nvPr/>
          </p:nvSpPr>
          <p:spPr>
            <a:xfrm rot="16200000">
              <a:off x="5214858" y="-2972305"/>
              <a:ext cx="2250000" cy="10418308"/>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Happy</a:t>
              </a:r>
            </a:p>
          </p:txBody>
        </p:sp>
        <p:pic>
          <p:nvPicPr>
            <p:cNvPr id="41" name="Picture 40" descr="A person taking a selfie&#10;&#10;AI-generated content may be incorrect.">
              <a:extLst>
                <a:ext uri="{FF2B5EF4-FFF2-40B4-BE49-F238E27FC236}">
                  <a16:creationId xmlns:a16="http://schemas.microsoft.com/office/drawing/2014/main" id="{1C95A138-A7AA-B83C-3FF2-896416FD99C4}"/>
                </a:ext>
              </a:extLst>
            </p:cNvPr>
            <p:cNvPicPr>
              <a:picLocks noChangeAspect="1"/>
            </p:cNvPicPr>
            <p:nvPr/>
          </p:nvPicPr>
          <p:blipFill>
            <a:blip r:embed="rId6"/>
            <a:stretch>
              <a:fillRect/>
            </a:stretch>
          </p:blipFill>
          <p:spPr>
            <a:xfrm>
              <a:off x="3286003" y="1423317"/>
              <a:ext cx="1016007" cy="14291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2" name="Picture 41" descr="A person taking a selfie&#10;&#10;AI-generated content may be incorrect.">
              <a:extLst>
                <a:ext uri="{FF2B5EF4-FFF2-40B4-BE49-F238E27FC236}">
                  <a16:creationId xmlns:a16="http://schemas.microsoft.com/office/drawing/2014/main" id="{AC6BE404-1B0F-F86E-8BD6-999FEF407262}"/>
                </a:ext>
              </a:extLst>
            </p:cNvPr>
            <p:cNvPicPr>
              <a:picLocks noChangeAspect="1"/>
            </p:cNvPicPr>
            <p:nvPr/>
          </p:nvPicPr>
          <p:blipFill>
            <a:blip r:embed="rId7"/>
            <a:stretch>
              <a:fillRect/>
            </a:stretch>
          </p:blipFill>
          <p:spPr>
            <a:xfrm>
              <a:off x="5475591" y="1416597"/>
              <a:ext cx="1016006" cy="14425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3" name="Picture 42" descr="A close up of a person's face&#10;&#10;AI-generated content may be incorrect.">
              <a:extLst>
                <a:ext uri="{FF2B5EF4-FFF2-40B4-BE49-F238E27FC236}">
                  <a16:creationId xmlns:a16="http://schemas.microsoft.com/office/drawing/2014/main" id="{4609000A-2257-E406-38EE-E92132088D06}"/>
                </a:ext>
              </a:extLst>
            </p:cNvPr>
            <p:cNvPicPr>
              <a:picLocks noChangeAspect="1"/>
            </p:cNvPicPr>
            <p:nvPr/>
          </p:nvPicPr>
          <p:blipFill>
            <a:blip r:embed="rId8"/>
            <a:stretch>
              <a:fillRect/>
            </a:stretch>
          </p:blipFill>
          <p:spPr>
            <a:xfrm>
              <a:off x="4468227" y="1425530"/>
              <a:ext cx="808733" cy="14291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4" name="Picture 43" descr="A person with long hair in front of newspaper&#10;&#10;AI-generated content may be incorrect.">
              <a:extLst>
                <a:ext uri="{FF2B5EF4-FFF2-40B4-BE49-F238E27FC236}">
                  <a16:creationId xmlns:a16="http://schemas.microsoft.com/office/drawing/2014/main" id="{9D308389-26F4-7468-D11C-DB578EE00CEA}"/>
                </a:ext>
              </a:extLst>
            </p:cNvPr>
            <p:cNvPicPr>
              <a:picLocks noChangeAspect="1"/>
            </p:cNvPicPr>
            <p:nvPr/>
          </p:nvPicPr>
          <p:blipFill>
            <a:blip r:embed="rId9"/>
            <a:stretch>
              <a:fillRect/>
            </a:stretch>
          </p:blipFill>
          <p:spPr>
            <a:xfrm>
              <a:off x="6665559" y="1423317"/>
              <a:ext cx="1016005" cy="14425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5" name="Picture 44" descr="A person smiling for a selfie&#10;&#10;AI-generated content may be incorrect.">
              <a:extLst>
                <a:ext uri="{FF2B5EF4-FFF2-40B4-BE49-F238E27FC236}">
                  <a16:creationId xmlns:a16="http://schemas.microsoft.com/office/drawing/2014/main" id="{8DAF5356-539D-6420-2999-E37D7DD49B20}"/>
                </a:ext>
              </a:extLst>
            </p:cNvPr>
            <p:cNvPicPr>
              <a:picLocks noChangeAspect="1"/>
            </p:cNvPicPr>
            <p:nvPr/>
          </p:nvPicPr>
          <p:blipFill>
            <a:blip r:embed="rId10"/>
            <a:stretch>
              <a:fillRect/>
            </a:stretch>
          </p:blipFill>
          <p:spPr>
            <a:xfrm>
              <a:off x="7836172" y="1416596"/>
              <a:ext cx="1067982" cy="14358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6" name="Picture 45" descr="A person with long hair making a face for the camera&#10;&#10;AI-generated content may be incorrect.">
              <a:extLst>
                <a:ext uri="{FF2B5EF4-FFF2-40B4-BE49-F238E27FC236}">
                  <a16:creationId xmlns:a16="http://schemas.microsoft.com/office/drawing/2014/main" id="{47A65251-F695-BE03-F3A6-6206A46FC2B7}"/>
                </a:ext>
              </a:extLst>
            </p:cNvPr>
            <p:cNvPicPr>
              <a:picLocks noChangeAspect="1"/>
            </p:cNvPicPr>
            <p:nvPr/>
          </p:nvPicPr>
          <p:blipFill>
            <a:blip r:embed="rId11"/>
            <a:stretch>
              <a:fillRect/>
            </a:stretch>
          </p:blipFill>
          <p:spPr>
            <a:xfrm>
              <a:off x="9077580" y="1423318"/>
              <a:ext cx="1127276" cy="14358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7" name="Picture 46" descr="A person in a car&#10;&#10;AI-generated content may be incorrect.">
              <a:extLst>
                <a:ext uri="{FF2B5EF4-FFF2-40B4-BE49-F238E27FC236}">
                  <a16:creationId xmlns:a16="http://schemas.microsoft.com/office/drawing/2014/main" id="{5FCB5B4C-D66C-4F9F-3D84-4906A3AEC380}"/>
                </a:ext>
              </a:extLst>
            </p:cNvPr>
            <p:cNvPicPr>
              <a:picLocks noChangeAspect="1"/>
            </p:cNvPicPr>
            <p:nvPr/>
          </p:nvPicPr>
          <p:blipFill>
            <a:blip r:embed="rId12"/>
            <a:stretch>
              <a:fillRect/>
            </a:stretch>
          </p:blipFill>
          <p:spPr>
            <a:xfrm>
              <a:off x="10334861" y="1423317"/>
              <a:ext cx="1034829" cy="14291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8" name="Picture 47" descr="A person with orange hair and a blue bow on her head&#10;&#10;AI-generated content may be incorrect.">
              <a:extLst>
                <a:ext uri="{FF2B5EF4-FFF2-40B4-BE49-F238E27FC236}">
                  <a16:creationId xmlns:a16="http://schemas.microsoft.com/office/drawing/2014/main" id="{730F58DC-0A6B-5114-3DA0-41E3DF324D4B}"/>
                </a:ext>
              </a:extLst>
            </p:cNvPr>
            <p:cNvPicPr>
              <a:picLocks noChangeAspect="1"/>
            </p:cNvPicPr>
            <p:nvPr/>
          </p:nvPicPr>
          <p:blipFill>
            <a:blip r:embed="rId13"/>
            <a:stretch>
              <a:fillRect/>
            </a:stretch>
          </p:blipFill>
          <p:spPr>
            <a:xfrm>
              <a:off x="2165305" y="1423317"/>
              <a:ext cx="966090" cy="14313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 name="TextBox 48">
              <a:extLst>
                <a:ext uri="{FF2B5EF4-FFF2-40B4-BE49-F238E27FC236}">
                  <a16:creationId xmlns:a16="http://schemas.microsoft.com/office/drawing/2014/main" id="{04499891-D7A8-158B-823F-4DC9E01FABA7}"/>
                </a:ext>
              </a:extLst>
            </p:cNvPr>
            <p:cNvSpPr txBox="1"/>
            <p:nvPr/>
          </p:nvSpPr>
          <p:spPr>
            <a:xfrm>
              <a:off x="2256639" y="2907573"/>
              <a:ext cx="687897" cy="369332"/>
            </a:xfrm>
            <a:prstGeom prst="rect">
              <a:avLst/>
            </a:prstGeom>
            <a:noFill/>
          </p:spPr>
          <p:txBody>
            <a:bodyPr wrap="square" rtlCol="0">
              <a:spAutoFit/>
            </a:bodyPr>
            <a:lstStyle/>
            <a:p>
              <a:pPr algn="ctr"/>
              <a:r>
                <a:rPr lang="en-US" dirty="0"/>
                <a:t>Sad</a:t>
              </a:r>
            </a:p>
          </p:txBody>
        </p:sp>
        <p:sp>
          <p:nvSpPr>
            <p:cNvPr id="50" name="TextBox 49">
              <a:extLst>
                <a:ext uri="{FF2B5EF4-FFF2-40B4-BE49-F238E27FC236}">
                  <a16:creationId xmlns:a16="http://schemas.microsoft.com/office/drawing/2014/main" id="{10A52A94-F2AC-8374-1C96-862DC614CE57}"/>
                </a:ext>
              </a:extLst>
            </p:cNvPr>
            <p:cNvSpPr txBox="1"/>
            <p:nvPr/>
          </p:nvSpPr>
          <p:spPr>
            <a:xfrm>
              <a:off x="5344593" y="2907573"/>
              <a:ext cx="1278001" cy="369332"/>
            </a:xfrm>
            <a:prstGeom prst="rect">
              <a:avLst/>
            </a:prstGeom>
            <a:noFill/>
          </p:spPr>
          <p:txBody>
            <a:bodyPr wrap="square" rtlCol="0">
              <a:spAutoFit/>
            </a:bodyPr>
            <a:lstStyle/>
            <a:p>
              <a:pPr algn="ctr"/>
              <a:r>
                <a:rPr lang="en-US" dirty="0"/>
                <a:t>Surprised</a:t>
              </a:r>
            </a:p>
          </p:txBody>
        </p:sp>
        <p:sp>
          <p:nvSpPr>
            <p:cNvPr id="51" name="TextBox 50">
              <a:extLst>
                <a:ext uri="{FF2B5EF4-FFF2-40B4-BE49-F238E27FC236}">
                  <a16:creationId xmlns:a16="http://schemas.microsoft.com/office/drawing/2014/main" id="{CAEBBB90-BD6E-0380-6C57-86938B2E3D7B}"/>
                </a:ext>
              </a:extLst>
            </p:cNvPr>
            <p:cNvSpPr txBox="1"/>
            <p:nvPr/>
          </p:nvSpPr>
          <p:spPr>
            <a:xfrm>
              <a:off x="4350890" y="2907573"/>
              <a:ext cx="1045216" cy="369332"/>
            </a:xfrm>
            <a:prstGeom prst="rect">
              <a:avLst/>
            </a:prstGeom>
            <a:noFill/>
          </p:spPr>
          <p:txBody>
            <a:bodyPr wrap="square" rtlCol="0">
              <a:spAutoFit/>
            </a:bodyPr>
            <a:lstStyle/>
            <a:p>
              <a:pPr algn="ctr"/>
              <a:r>
                <a:rPr lang="en-US" dirty="0"/>
                <a:t>Neutral</a:t>
              </a:r>
            </a:p>
          </p:txBody>
        </p:sp>
        <p:sp>
          <p:nvSpPr>
            <p:cNvPr id="52" name="TextBox 51">
              <a:extLst>
                <a:ext uri="{FF2B5EF4-FFF2-40B4-BE49-F238E27FC236}">
                  <a16:creationId xmlns:a16="http://schemas.microsoft.com/office/drawing/2014/main" id="{FEDEE255-4B9D-DC49-109B-B12A73DA4789}"/>
                </a:ext>
              </a:extLst>
            </p:cNvPr>
            <p:cNvSpPr txBox="1"/>
            <p:nvPr/>
          </p:nvSpPr>
          <p:spPr>
            <a:xfrm>
              <a:off x="3359826" y="2860516"/>
              <a:ext cx="687897" cy="369332"/>
            </a:xfrm>
            <a:prstGeom prst="rect">
              <a:avLst/>
            </a:prstGeom>
            <a:noFill/>
          </p:spPr>
          <p:txBody>
            <a:bodyPr wrap="square" rtlCol="0">
              <a:spAutoFit/>
            </a:bodyPr>
            <a:lstStyle/>
            <a:p>
              <a:pPr algn="ctr"/>
              <a:r>
                <a:rPr lang="en-US" dirty="0"/>
                <a:t>Fear</a:t>
              </a:r>
            </a:p>
          </p:txBody>
        </p:sp>
        <p:sp>
          <p:nvSpPr>
            <p:cNvPr id="53" name="TextBox 52">
              <a:extLst>
                <a:ext uri="{FF2B5EF4-FFF2-40B4-BE49-F238E27FC236}">
                  <a16:creationId xmlns:a16="http://schemas.microsoft.com/office/drawing/2014/main" id="{BD399FE2-1099-D884-9200-2E0A3359C42F}"/>
                </a:ext>
              </a:extLst>
            </p:cNvPr>
            <p:cNvSpPr txBox="1"/>
            <p:nvPr/>
          </p:nvSpPr>
          <p:spPr>
            <a:xfrm>
              <a:off x="6581313" y="2908501"/>
              <a:ext cx="1278001" cy="369332"/>
            </a:xfrm>
            <a:prstGeom prst="rect">
              <a:avLst/>
            </a:prstGeom>
            <a:noFill/>
          </p:spPr>
          <p:txBody>
            <a:bodyPr wrap="square" rtlCol="0">
              <a:spAutoFit/>
            </a:bodyPr>
            <a:lstStyle/>
            <a:p>
              <a:pPr algn="ctr"/>
              <a:r>
                <a:rPr lang="en-US" dirty="0"/>
                <a:t>Disgust</a:t>
              </a:r>
            </a:p>
          </p:txBody>
        </p:sp>
        <p:sp>
          <p:nvSpPr>
            <p:cNvPr id="54" name="TextBox 53">
              <a:extLst>
                <a:ext uri="{FF2B5EF4-FFF2-40B4-BE49-F238E27FC236}">
                  <a16:creationId xmlns:a16="http://schemas.microsoft.com/office/drawing/2014/main" id="{F3F5383B-2EBA-1856-9F6F-EBE4A15DC8BD}"/>
                </a:ext>
              </a:extLst>
            </p:cNvPr>
            <p:cNvSpPr txBox="1"/>
            <p:nvPr/>
          </p:nvSpPr>
          <p:spPr>
            <a:xfrm>
              <a:off x="7723663" y="2908501"/>
              <a:ext cx="1278001" cy="369332"/>
            </a:xfrm>
            <a:prstGeom prst="rect">
              <a:avLst/>
            </a:prstGeom>
            <a:noFill/>
          </p:spPr>
          <p:txBody>
            <a:bodyPr wrap="square" rtlCol="0">
              <a:spAutoFit/>
            </a:bodyPr>
            <a:lstStyle/>
            <a:p>
              <a:pPr algn="ctr"/>
              <a:r>
                <a:rPr lang="en-US" dirty="0"/>
                <a:t>Happy</a:t>
              </a:r>
            </a:p>
          </p:txBody>
        </p:sp>
        <p:sp>
          <p:nvSpPr>
            <p:cNvPr id="55" name="TextBox 54">
              <a:extLst>
                <a:ext uri="{FF2B5EF4-FFF2-40B4-BE49-F238E27FC236}">
                  <a16:creationId xmlns:a16="http://schemas.microsoft.com/office/drawing/2014/main" id="{947709ED-7156-9D84-DC00-359D5032D81B}"/>
                </a:ext>
              </a:extLst>
            </p:cNvPr>
            <p:cNvSpPr txBox="1"/>
            <p:nvPr/>
          </p:nvSpPr>
          <p:spPr>
            <a:xfrm>
              <a:off x="9049371" y="2902863"/>
              <a:ext cx="1278001" cy="369332"/>
            </a:xfrm>
            <a:prstGeom prst="rect">
              <a:avLst/>
            </a:prstGeom>
            <a:noFill/>
          </p:spPr>
          <p:txBody>
            <a:bodyPr wrap="square" rtlCol="0">
              <a:spAutoFit/>
            </a:bodyPr>
            <a:lstStyle/>
            <a:p>
              <a:pPr algn="ctr"/>
              <a:r>
                <a:rPr lang="en-US" dirty="0"/>
                <a:t>Anger</a:t>
              </a:r>
            </a:p>
          </p:txBody>
        </p:sp>
        <p:sp>
          <p:nvSpPr>
            <p:cNvPr id="56" name="TextBox 55">
              <a:extLst>
                <a:ext uri="{FF2B5EF4-FFF2-40B4-BE49-F238E27FC236}">
                  <a16:creationId xmlns:a16="http://schemas.microsoft.com/office/drawing/2014/main" id="{1F82626C-1155-DF09-AE38-7412BBFF0CEB}"/>
                </a:ext>
              </a:extLst>
            </p:cNvPr>
            <p:cNvSpPr txBox="1"/>
            <p:nvPr/>
          </p:nvSpPr>
          <p:spPr>
            <a:xfrm>
              <a:off x="10271011" y="2911230"/>
              <a:ext cx="1278001" cy="369332"/>
            </a:xfrm>
            <a:prstGeom prst="rect">
              <a:avLst/>
            </a:prstGeom>
            <a:noFill/>
          </p:spPr>
          <p:txBody>
            <a:bodyPr wrap="square" rtlCol="0">
              <a:spAutoFit/>
            </a:bodyPr>
            <a:lstStyle/>
            <a:p>
              <a:pPr algn="ctr"/>
              <a:r>
                <a:rPr lang="en-US" dirty="0"/>
                <a:t>Contempt</a:t>
              </a:r>
            </a:p>
          </p:txBody>
        </p:sp>
      </p:grpSp>
      <p:sp useBgFill="1">
        <p:nvSpPr>
          <p:cNvPr id="2076" name="Rectangle 2075">
            <a:extLst>
              <a:ext uri="{FF2B5EF4-FFF2-40B4-BE49-F238E27FC236}">
                <a16:creationId xmlns:a16="http://schemas.microsoft.com/office/drawing/2014/main" id="{F3287C8C-BB6C-9FB0-4B7E-27EE73A3B040}"/>
              </a:ext>
            </a:extLst>
          </p:cNvPr>
          <p:cNvSpPr/>
          <p:nvPr/>
        </p:nvSpPr>
        <p:spPr>
          <a:xfrm>
            <a:off x="0" y="0"/>
            <a:ext cx="1608143" cy="352472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DATASET">
            <a:extLst>
              <a:ext uri="{FF2B5EF4-FFF2-40B4-BE49-F238E27FC236}">
                <a16:creationId xmlns:a16="http://schemas.microsoft.com/office/drawing/2014/main" id="{24060B91-E679-31C1-7935-793936F185EF}"/>
              </a:ext>
            </a:extLst>
          </p:cNvPr>
          <p:cNvGrpSpPr/>
          <p:nvPr/>
        </p:nvGrpSpPr>
        <p:grpSpPr>
          <a:xfrm>
            <a:off x="733442" y="970200"/>
            <a:ext cx="1278000" cy="2458800"/>
            <a:chOff x="733442" y="970200"/>
            <a:chExt cx="1278000" cy="2458800"/>
          </a:xfrm>
        </p:grpSpPr>
        <p:sp>
          <p:nvSpPr>
            <p:cNvPr id="11" name="Flowchart: Document 10">
              <a:extLst>
                <a:ext uri="{FF2B5EF4-FFF2-40B4-BE49-F238E27FC236}">
                  <a16:creationId xmlns:a16="http://schemas.microsoft.com/office/drawing/2014/main" id="{D8DD4F8A-FC9B-7099-6B0E-EE9B59D790D0}"/>
                </a:ext>
              </a:extLst>
            </p:cNvPr>
            <p:cNvSpPr/>
            <p:nvPr/>
          </p:nvSpPr>
          <p:spPr>
            <a:xfrm rot="16200000">
              <a:off x="143042" y="1560600"/>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8" name="TextBox 17">
              <a:extLst>
                <a:ext uri="{FF2B5EF4-FFF2-40B4-BE49-F238E27FC236}">
                  <a16:creationId xmlns:a16="http://schemas.microsoft.com/office/drawing/2014/main" id="{0CFBB571-8105-060A-C97A-76E93153C3DC}"/>
                </a:ext>
              </a:extLst>
            </p:cNvPr>
            <p:cNvSpPr txBox="1"/>
            <p:nvPr/>
          </p:nvSpPr>
          <p:spPr>
            <a:xfrm>
              <a:off x="1058787" y="1296173"/>
              <a:ext cx="553998"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DATASET</a:t>
              </a:r>
            </a:p>
          </p:txBody>
        </p:sp>
      </p:grpSp>
      <p:cxnSp>
        <p:nvCxnSpPr>
          <p:cNvPr id="6" name="Straight Connector 5">
            <a:extLst>
              <a:ext uri="{FF2B5EF4-FFF2-40B4-BE49-F238E27FC236}">
                <a16:creationId xmlns:a16="http://schemas.microsoft.com/office/drawing/2014/main" id="{5902E87E-8167-27BE-4BAD-462FC3BEB797}"/>
              </a:ext>
            </a:extLst>
          </p:cNvPr>
          <p:cNvCxnSpPr>
            <a:cxnSpLocks/>
          </p:cNvCxnSpPr>
          <p:nvPr/>
        </p:nvCxnSpPr>
        <p:spPr>
          <a:xfrm>
            <a:off x="7902429" y="784372"/>
            <a:ext cx="3646583"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86A808E-ACC9-EFE2-6B86-E41D70E69483}"/>
              </a:ext>
            </a:extLst>
          </p:cNvPr>
          <p:cNvSpPr txBox="1"/>
          <p:nvPr/>
        </p:nvSpPr>
        <p:spPr>
          <a:xfrm>
            <a:off x="2343614" y="412595"/>
            <a:ext cx="7504771" cy="646331"/>
          </a:xfrm>
          <a:prstGeom prst="rect">
            <a:avLst/>
          </a:prstGeom>
          <a:noFill/>
        </p:spPr>
        <p:txBody>
          <a:bodyPr wrap="square" rtlCol="0">
            <a:spAutoFit/>
          </a:bodyPr>
          <a:lstStyle/>
          <a:p>
            <a:pPr algn="ctr"/>
            <a:r>
              <a:rPr lang="en-US" sz="3600" dirty="0">
                <a:latin typeface="+mj-lt"/>
              </a:rPr>
              <a:t>E</a:t>
            </a:r>
            <a:r>
              <a:rPr lang="en-US" altLang="zh-CN" sz="3600" dirty="0">
                <a:latin typeface="+mj-lt"/>
              </a:rPr>
              <a:t>xploration</a:t>
            </a:r>
            <a:endParaRPr lang="en-US" sz="3600" dirty="0">
              <a:latin typeface="+mj-lt"/>
            </a:endParaRPr>
          </a:p>
        </p:txBody>
      </p:sp>
      <p:cxnSp>
        <p:nvCxnSpPr>
          <p:cNvPr id="7" name="Straight Connector 6">
            <a:extLst>
              <a:ext uri="{FF2B5EF4-FFF2-40B4-BE49-F238E27FC236}">
                <a16:creationId xmlns:a16="http://schemas.microsoft.com/office/drawing/2014/main" id="{28C17D3E-B831-A49A-4033-F38F0B96B8A1}"/>
              </a:ext>
            </a:extLst>
          </p:cNvPr>
          <p:cNvCxnSpPr>
            <a:cxnSpLocks/>
          </p:cNvCxnSpPr>
          <p:nvPr/>
        </p:nvCxnSpPr>
        <p:spPr>
          <a:xfrm>
            <a:off x="743952" y="784372"/>
            <a:ext cx="364658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276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decel="100000"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ppt_x"/>
                                          </p:val>
                                        </p:tav>
                                        <p:tav tm="100000">
                                          <p:val>
                                            <p:strVal val="#ppt_x"/>
                                          </p:val>
                                        </p:tav>
                                      </p:tavLst>
                                    </p:anim>
                                    <p:anim calcmode="lin" valueType="num">
                                      <p:cBhvr additive="base">
                                        <p:cTn id="14" dur="500" fill="hold"/>
                                        <p:tgtEl>
                                          <p:spTgt spid="61"/>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decel="10000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ppt_x"/>
                                          </p:val>
                                        </p:tav>
                                        <p:tav tm="100000">
                                          <p:val>
                                            <p:strVal val="#ppt_x"/>
                                          </p:val>
                                        </p:tav>
                                      </p:tavLst>
                                    </p:anim>
                                    <p:anim calcmode="lin" valueType="num">
                                      <p:cBhvr additive="base">
                                        <p:cTn id="20" dur="500" fill="hold"/>
                                        <p:tgtEl>
                                          <p:spTgt spid="63"/>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decel="100000" fill="hold" nodeType="clickEffect">
                                  <p:stCondLst>
                                    <p:cond delay="0"/>
                                  </p:stCondLst>
                                  <p:childTnLst>
                                    <p:set>
                                      <p:cBhvr>
                                        <p:cTn id="24" dur="1" fill="hold">
                                          <p:stCondLst>
                                            <p:cond delay="0"/>
                                          </p:stCondLst>
                                        </p:cTn>
                                        <p:tgtEl>
                                          <p:spTgt spid="2049"/>
                                        </p:tgtEl>
                                        <p:attrNameLst>
                                          <p:attrName>style.visibility</p:attrName>
                                        </p:attrNameLst>
                                      </p:cBhvr>
                                      <p:to>
                                        <p:strVal val="visible"/>
                                      </p:to>
                                    </p:set>
                                    <p:anim calcmode="lin" valueType="num">
                                      <p:cBhvr additive="base">
                                        <p:cTn id="25" dur="500" fill="hold"/>
                                        <p:tgtEl>
                                          <p:spTgt spid="2049"/>
                                        </p:tgtEl>
                                        <p:attrNameLst>
                                          <p:attrName>ppt_x</p:attrName>
                                        </p:attrNameLst>
                                      </p:cBhvr>
                                      <p:tavLst>
                                        <p:tav tm="0">
                                          <p:val>
                                            <p:strVal val="#ppt_x"/>
                                          </p:val>
                                        </p:tav>
                                        <p:tav tm="100000">
                                          <p:val>
                                            <p:strVal val="#ppt_x"/>
                                          </p:val>
                                        </p:tav>
                                      </p:tavLst>
                                    </p:anim>
                                    <p:anim calcmode="lin" valueType="num">
                                      <p:cBhvr additive="base">
                                        <p:cTn id="26" dur="500" fill="hold"/>
                                        <p:tgtEl>
                                          <p:spTgt spid="2049"/>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decel="100000" fill="hold" nodeType="clickEffect">
                                  <p:stCondLst>
                                    <p:cond delay="0"/>
                                  </p:stCondLst>
                                  <p:childTnLst>
                                    <p:set>
                                      <p:cBhvr>
                                        <p:cTn id="30" dur="1" fill="hold">
                                          <p:stCondLst>
                                            <p:cond delay="0"/>
                                          </p:stCondLst>
                                        </p:cTn>
                                        <p:tgtEl>
                                          <p:spTgt spid="2075"/>
                                        </p:tgtEl>
                                        <p:attrNameLst>
                                          <p:attrName>style.visibility</p:attrName>
                                        </p:attrNameLst>
                                      </p:cBhvr>
                                      <p:to>
                                        <p:strVal val="visible"/>
                                      </p:to>
                                    </p:set>
                                    <p:anim calcmode="lin" valueType="num">
                                      <p:cBhvr additive="base">
                                        <p:cTn id="31" dur="500" fill="hold"/>
                                        <p:tgtEl>
                                          <p:spTgt spid="2075"/>
                                        </p:tgtEl>
                                        <p:attrNameLst>
                                          <p:attrName>ppt_x</p:attrName>
                                        </p:attrNameLst>
                                      </p:cBhvr>
                                      <p:tavLst>
                                        <p:tav tm="0">
                                          <p:val>
                                            <p:strVal val="#ppt_x"/>
                                          </p:val>
                                        </p:tav>
                                        <p:tav tm="100000">
                                          <p:val>
                                            <p:strVal val="#ppt_x"/>
                                          </p:val>
                                        </p:tav>
                                      </p:tavLst>
                                    </p:anim>
                                    <p:anim calcmode="lin" valueType="num">
                                      <p:cBhvr additive="base">
                                        <p:cTn id="32" dur="500" fill="hold"/>
                                        <p:tgtEl>
                                          <p:spTgt spid="207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9D82FB4-3DC5-DE53-9EEC-39BF2AB28AAD}"/>
              </a:ext>
            </a:extLst>
          </p:cNvPr>
          <p:cNvCxnSpPr>
            <a:cxnSpLocks/>
          </p:cNvCxnSpPr>
          <p:nvPr/>
        </p:nvCxnSpPr>
        <p:spPr>
          <a:xfrm>
            <a:off x="6578920" y="854242"/>
            <a:ext cx="0" cy="5149515"/>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Picture 11" descr="A screenshot of a computer program&#10;&#10;AI-generated content may be incorrect.">
            <a:extLst>
              <a:ext uri="{FF2B5EF4-FFF2-40B4-BE49-F238E27FC236}">
                <a16:creationId xmlns:a16="http://schemas.microsoft.com/office/drawing/2014/main" id="{9ED48DDB-9A2B-725A-B9D2-15A5BA65626B}"/>
              </a:ext>
            </a:extLst>
          </p:cNvPr>
          <p:cNvPicPr>
            <a:picLocks noChangeAspect="1"/>
          </p:cNvPicPr>
          <p:nvPr/>
        </p:nvPicPr>
        <p:blipFill rotWithShape="1">
          <a:blip r:embed="rId2"/>
          <a:srcRect l="4097" t="21771"/>
          <a:stretch/>
        </p:blipFill>
        <p:spPr bwMode="auto">
          <a:xfrm>
            <a:off x="466345" y="1312677"/>
            <a:ext cx="5931581" cy="394913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B428CC6E-D2B2-0CB3-ABB5-3522F9064E8A}"/>
              </a:ext>
            </a:extLst>
          </p:cNvPr>
          <p:cNvSpPr txBox="1"/>
          <p:nvPr/>
        </p:nvSpPr>
        <p:spPr>
          <a:xfrm>
            <a:off x="4287520" y="105036"/>
            <a:ext cx="3616960" cy="584775"/>
          </a:xfrm>
          <a:prstGeom prst="rect">
            <a:avLst/>
          </a:prstGeom>
          <a:noFill/>
        </p:spPr>
        <p:txBody>
          <a:bodyPr wrap="square" rtlCol="0">
            <a:spAutoFit/>
          </a:bodyPr>
          <a:lstStyle/>
          <a:p>
            <a:pPr algn="ctr"/>
            <a:r>
              <a:rPr lang="en-US" sz="3200" dirty="0">
                <a:latin typeface="+mj-lt"/>
              </a:rPr>
              <a:t>P</a:t>
            </a:r>
            <a:r>
              <a:rPr lang="en-US" altLang="zh-CN" sz="3200" dirty="0">
                <a:latin typeface="+mj-lt"/>
              </a:rPr>
              <a:t>re-processing</a:t>
            </a:r>
            <a:endParaRPr lang="en-US" sz="3200" dirty="0">
              <a:latin typeface="+mj-lt"/>
            </a:endParaRPr>
          </a:p>
        </p:txBody>
      </p:sp>
      <p:cxnSp>
        <p:nvCxnSpPr>
          <p:cNvPr id="14" name="Straight Connector 13">
            <a:extLst>
              <a:ext uri="{FF2B5EF4-FFF2-40B4-BE49-F238E27FC236}">
                <a16:creationId xmlns:a16="http://schemas.microsoft.com/office/drawing/2014/main" id="{29DA9F67-5E2C-023D-F1A0-EC1CB9FDE237}"/>
              </a:ext>
            </a:extLst>
          </p:cNvPr>
          <p:cNvCxnSpPr>
            <a:cxnSpLocks/>
          </p:cNvCxnSpPr>
          <p:nvPr/>
        </p:nvCxnSpPr>
        <p:spPr>
          <a:xfrm>
            <a:off x="867432" y="407428"/>
            <a:ext cx="36465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A70008A-C43A-0964-8C5C-B94F626BBE97}"/>
              </a:ext>
            </a:extLst>
          </p:cNvPr>
          <p:cNvCxnSpPr>
            <a:cxnSpLocks/>
          </p:cNvCxnSpPr>
          <p:nvPr/>
        </p:nvCxnSpPr>
        <p:spPr>
          <a:xfrm>
            <a:off x="7643102" y="422366"/>
            <a:ext cx="3646583"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10F5519-1759-25EE-3000-5F51B728675E}"/>
              </a:ext>
            </a:extLst>
          </p:cNvPr>
          <p:cNvSpPr txBox="1"/>
          <p:nvPr/>
        </p:nvSpPr>
        <p:spPr>
          <a:xfrm>
            <a:off x="6578920" y="918853"/>
            <a:ext cx="5674039" cy="3340594"/>
          </a:xfrm>
          <a:prstGeom prst="rect">
            <a:avLst/>
          </a:prstGeom>
          <a:noFill/>
        </p:spPr>
        <p:txBody>
          <a:bodyPr wrap="square">
            <a:spAutoFit/>
          </a:bodyPr>
          <a:lstStyle/>
          <a:p>
            <a:pPr rtl="0">
              <a:lnSpc>
                <a:spcPct val="115000"/>
              </a:lnSpc>
              <a:spcAft>
                <a:spcPts val="800"/>
              </a:spcAft>
            </a:pPr>
            <a:r>
              <a:rPr lang="en-US" sz="2400" dirty="0">
                <a:solidFill>
                  <a:schemeClr val="tx1">
                    <a:lumMod val="50000"/>
                  </a:schemeClr>
                </a:solidFill>
              </a:rPr>
              <a:t>Key Preprocessing Steps:</a:t>
            </a:r>
          </a:p>
          <a:p>
            <a:pPr marL="342900" indent="-342900" rtl="0">
              <a:lnSpc>
                <a:spcPct val="115000"/>
              </a:lnSpc>
              <a:spcAft>
                <a:spcPts val="800"/>
              </a:spcAft>
              <a:buFont typeface="Arial" panose="020B0604020202020204" pitchFamily="34" charset="0"/>
              <a:buChar char="•"/>
            </a:pPr>
            <a:r>
              <a:rPr lang="en-US" sz="2400" dirty="0">
                <a:solidFill>
                  <a:schemeClr val="tx1">
                    <a:lumMod val="50000"/>
                  </a:schemeClr>
                </a:solidFill>
              </a:rPr>
              <a:t>Normalization of image data.</a:t>
            </a:r>
          </a:p>
          <a:p>
            <a:pPr marL="342900" indent="-342900" rtl="0">
              <a:lnSpc>
                <a:spcPct val="115000"/>
              </a:lnSpc>
              <a:spcAft>
                <a:spcPts val="800"/>
              </a:spcAft>
              <a:buFont typeface="Arial" panose="020B0604020202020204" pitchFamily="34" charset="0"/>
              <a:buChar char="•"/>
            </a:pPr>
            <a:r>
              <a:rPr lang="en-US" sz="2400" dirty="0">
                <a:solidFill>
                  <a:schemeClr val="tx1">
                    <a:lumMod val="50000"/>
                  </a:schemeClr>
                </a:solidFill>
              </a:rPr>
              <a:t>Conversion of categorical labels to numerical values.</a:t>
            </a:r>
          </a:p>
          <a:p>
            <a:pPr marL="342900" indent="-342900" rtl="0">
              <a:lnSpc>
                <a:spcPct val="115000"/>
              </a:lnSpc>
              <a:spcAft>
                <a:spcPts val="800"/>
              </a:spcAft>
              <a:buFont typeface="Arial" panose="020B0604020202020204" pitchFamily="34" charset="0"/>
              <a:buChar char="•"/>
            </a:pPr>
            <a:r>
              <a:rPr lang="en-US" sz="2400" dirty="0">
                <a:solidFill>
                  <a:schemeClr val="tx1">
                    <a:lumMod val="50000"/>
                  </a:schemeClr>
                </a:solidFill>
              </a:rPr>
              <a:t>Data augmentation to expand dataset variability and reduce overfitting.</a:t>
            </a:r>
            <a:endParaRPr lang="en-US" sz="2400" kern="100" dirty="0">
              <a:solidFill>
                <a:schemeClr val="tx1">
                  <a:lumMod val="50000"/>
                </a:schemeClr>
              </a:solidFill>
              <a:effectLst/>
              <a:ea typeface="DengXian" panose="02010600030101010101" pitchFamily="2" charset="-122"/>
              <a:cs typeface="Arial" panose="020B0604020202020204" pitchFamily="34" charset="0"/>
            </a:endParaRPr>
          </a:p>
        </p:txBody>
      </p:sp>
      <p:sp>
        <p:nvSpPr>
          <p:cNvPr id="2" name="TextBox 1">
            <a:extLst>
              <a:ext uri="{FF2B5EF4-FFF2-40B4-BE49-F238E27FC236}">
                <a16:creationId xmlns:a16="http://schemas.microsoft.com/office/drawing/2014/main" id="{17FA3946-8F68-9BAE-DADE-F117F8CFCC36}"/>
              </a:ext>
            </a:extLst>
          </p:cNvPr>
          <p:cNvSpPr txBox="1"/>
          <p:nvPr/>
        </p:nvSpPr>
        <p:spPr>
          <a:xfrm>
            <a:off x="6792844" y="4331202"/>
            <a:ext cx="5399154" cy="1861215"/>
          </a:xfrm>
          <a:prstGeom prst="rect">
            <a:avLst/>
          </a:prstGeom>
          <a:noFill/>
        </p:spPr>
        <p:txBody>
          <a:bodyPr wrap="square">
            <a:spAutoFit/>
          </a:bodyPr>
          <a:lstStyle/>
          <a:p>
            <a:pPr rtl="0">
              <a:lnSpc>
                <a:spcPct val="115000"/>
              </a:lnSpc>
              <a:spcAft>
                <a:spcPts val="800"/>
              </a:spcAft>
            </a:pPr>
            <a:r>
              <a:rPr lang="en-US" sz="2400" dirty="0">
                <a:solidFill>
                  <a:schemeClr val="tx1">
                    <a:lumMod val="50000"/>
                  </a:schemeClr>
                </a:solidFill>
              </a:rPr>
              <a:t>Rationale:</a:t>
            </a:r>
          </a:p>
          <a:p>
            <a:pPr rtl="0">
              <a:lnSpc>
                <a:spcPct val="115000"/>
              </a:lnSpc>
              <a:spcAft>
                <a:spcPts val="800"/>
              </a:spcAft>
            </a:pPr>
            <a:r>
              <a:rPr lang="en-US" sz="2400" dirty="0">
                <a:solidFill>
                  <a:schemeClr val="tx1">
                    <a:lumMod val="50000"/>
                  </a:schemeClr>
                </a:solidFill>
              </a:rPr>
              <a:t>These steps are crucial to enhance the model’s learning capabilities and overall performance.</a:t>
            </a:r>
            <a:endParaRPr lang="en-US" sz="2400" kern="100" dirty="0">
              <a:solidFill>
                <a:schemeClr val="tx1">
                  <a:lumMod val="50000"/>
                </a:schemeClr>
              </a:solidFill>
              <a:effectLst/>
              <a:latin typeface="Amasis MT Pro Black" panose="02040A04050005020304" pitchFamily="18"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18641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100DDA5F-5392-CAC2-1A5A-A2A8BC98B344}"/>
              </a:ext>
            </a:extLst>
          </p:cNvPr>
          <p:cNvGrpSpPr/>
          <p:nvPr/>
        </p:nvGrpSpPr>
        <p:grpSpPr>
          <a:xfrm>
            <a:off x="9295994" y="1987678"/>
            <a:ext cx="2250000" cy="3890723"/>
            <a:chOff x="9187661" y="2077431"/>
            <a:chExt cx="2250000" cy="4367971"/>
          </a:xfrm>
        </p:grpSpPr>
        <p:sp>
          <p:nvSpPr>
            <p:cNvPr id="5" name="Rectangle: Rounded Corners 4">
              <a:extLst>
                <a:ext uri="{FF2B5EF4-FFF2-40B4-BE49-F238E27FC236}">
                  <a16:creationId xmlns:a16="http://schemas.microsoft.com/office/drawing/2014/main" id="{2D0786B6-DC31-D9EE-EB54-FCA44656699D}"/>
                </a:ext>
              </a:extLst>
            </p:cNvPr>
            <p:cNvSpPr/>
            <p:nvPr/>
          </p:nvSpPr>
          <p:spPr>
            <a:xfrm>
              <a:off x="9187661" y="2077431"/>
              <a:ext cx="2250000" cy="4367971"/>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2DCDF36-62A0-3F20-2422-E4D91F80A6AE}"/>
                </a:ext>
              </a:extLst>
            </p:cNvPr>
            <p:cNvSpPr txBox="1"/>
            <p:nvPr/>
          </p:nvSpPr>
          <p:spPr>
            <a:xfrm>
              <a:off x="9216666" y="3165058"/>
              <a:ext cx="2168021" cy="3213423"/>
            </a:xfrm>
            <a:prstGeom prst="rect">
              <a:avLst/>
            </a:prstGeom>
            <a:noFill/>
          </p:spPr>
          <p:txBody>
            <a:bodyPr wrap="square" rtlCol="0">
              <a:spAutoFit/>
            </a:bodyPr>
            <a:lstStyle/>
            <a:p>
              <a:pPr algn="ctr"/>
              <a:r>
                <a:rPr lang="en-US" dirty="0">
                  <a:effectLst/>
                  <a:ea typeface="DengXian" panose="02010600030101010101" pitchFamily="2" charset="-122"/>
                </a:rPr>
                <a:t>One subplot shows the model's accuracy changes during training (for both the training and validation data). The other subplot will show the model's loss changes over time.</a:t>
              </a:r>
              <a:r>
                <a:rPr lang="en-US" dirty="0">
                  <a:solidFill>
                    <a:srgbClr val="FF0000"/>
                  </a:solidFill>
                  <a:effectLst/>
                  <a:ea typeface="DengXian" panose="02010600030101010101" pitchFamily="2" charset="-122"/>
                </a:rPr>
                <a:t> </a:t>
              </a:r>
              <a:endParaRPr lang="en-US" dirty="0"/>
            </a:p>
          </p:txBody>
        </p:sp>
      </p:grpSp>
      <p:grpSp>
        <p:nvGrpSpPr>
          <p:cNvPr id="24" name="Group 23">
            <a:extLst>
              <a:ext uri="{FF2B5EF4-FFF2-40B4-BE49-F238E27FC236}">
                <a16:creationId xmlns:a16="http://schemas.microsoft.com/office/drawing/2014/main" id="{04252F3E-DCBF-1860-61EA-1F0F7C97D372}"/>
              </a:ext>
            </a:extLst>
          </p:cNvPr>
          <p:cNvGrpSpPr/>
          <p:nvPr/>
        </p:nvGrpSpPr>
        <p:grpSpPr>
          <a:xfrm>
            <a:off x="4883435" y="1930644"/>
            <a:ext cx="2402601" cy="3970670"/>
            <a:chOff x="6153648" y="1987678"/>
            <a:chExt cx="2402601" cy="4457725"/>
          </a:xfrm>
        </p:grpSpPr>
        <p:sp>
          <p:nvSpPr>
            <p:cNvPr id="11" name="Rectangle: Rounded Corners 10">
              <a:extLst>
                <a:ext uri="{FF2B5EF4-FFF2-40B4-BE49-F238E27FC236}">
                  <a16:creationId xmlns:a16="http://schemas.microsoft.com/office/drawing/2014/main" id="{4B23D48B-171A-8399-7D0E-63160C85588E}"/>
                </a:ext>
              </a:extLst>
            </p:cNvPr>
            <p:cNvSpPr/>
            <p:nvPr/>
          </p:nvSpPr>
          <p:spPr>
            <a:xfrm>
              <a:off x="6229949" y="1987678"/>
              <a:ext cx="2250000" cy="4457725"/>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3B1899B5-908E-2CA6-F1F4-C2CE154D5318}"/>
                </a:ext>
              </a:extLst>
            </p:cNvPr>
            <p:cNvSpPr txBox="1"/>
            <p:nvPr/>
          </p:nvSpPr>
          <p:spPr>
            <a:xfrm>
              <a:off x="6153648" y="3731589"/>
              <a:ext cx="2402601" cy="2176835"/>
            </a:xfrm>
            <a:prstGeom prst="rect">
              <a:avLst/>
            </a:prstGeom>
            <a:noFill/>
          </p:spPr>
          <p:txBody>
            <a:bodyPr wrap="square" rtlCol="0">
              <a:spAutoFit/>
            </a:bodyPr>
            <a:lstStyle/>
            <a:p>
              <a:pPr algn="ctr"/>
              <a:r>
                <a:rPr lang="en-US" sz="2000" kern="100" dirty="0">
                  <a:effectLst/>
                  <a:latin typeface="Amasis MT Pro Medium (Body)"/>
                  <a:ea typeface="DengXian" panose="02010600030101010101" pitchFamily="2" charset="-122"/>
                  <a:cs typeface="Arial" panose="020B0604020202020204" pitchFamily="34" charset="0"/>
                </a:rPr>
                <a:t>shows the image along with its actual and predicted emotions label.</a:t>
              </a:r>
            </a:p>
            <a:p>
              <a:endParaRPr lang="en-US" sz="2000" dirty="0">
                <a:latin typeface="Amasis MT Pro Medium (Body)"/>
              </a:endParaRPr>
            </a:p>
          </p:txBody>
        </p:sp>
      </p:grpSp>
      <p:grpSp>
        <p:nvGrpSpPr>
          <p:cNvPr id="22" name="Group 21">
            <a:extLst>
              <a:ext uri="{FF2B5EF4-FFF2-40B4-BE49-F238E27FC236}">
                <a16:creationId xmlns:a16="http://schemas.microsoft.com/office/drawing/2014/main" id="{A2E2E540-251D-3C11-C3E5-7EFB95BCB404}"/>
              </a:ext>
            </a:extLst>
          </p:cNvPr>
          <p:cNvGrpSpPr/>
          <p:nvPr/>
        </p:nvGrpSpPr>
        <p:grpSpPr>
          <a:xfrm>
            <a:off x="698980" y="1869403"/>
            <a:ext cx="2354400" cy="4091708"/>
            <a:chOff x="3387744" y="1851794"/>
            <a:chExt cx="2354400" cy="4593610"/>
          </a:xfrm>
        </p:grpSpPr>
        <p:sp>
          <p:nvSpPr>
            <p:cNvPr id="17" name="Rectangle: Rounded Corners 16">
              <a:extLst>
                <a:ext uri="{FF2B5EF4-FFF2-40B4-BE49-F238E27FC236}">
                  <a16:creationId xmlns:a16="http://schemas.microsoft.com/office/drawing/2014/main" id="{055716AF-0574-9DCE-63BE-66F527361B93}"/>
                </a:ext>
              </a:extLst>
            </p:cNvPr>
            <p:cNvSpPr/>
            <p:nvPr/>
          </p:nvSpPr>
          <p:spPr>
            <a:xfrm>
              <a:off x="3439944" y="1851794"/>
              <a:ext cx="2250000" cy="4593610"/>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AAC56B68-4C68-62EF-728F-90A81D5986F8}"/>
                </a:ext>
              </a:extLst>
            </p:cNvPr>
            <p:cNvSpPr txBox="1"/>
            <p:nvPr/>
          </p:nvSpPr>
          <p:spPr>
            <a:xfrm>
              <a:off x="3387744" y="3322620"/>
              <a:ext cx="2354400" cy="2902447"/>
            </a:xfrm>
            <a:prstGeom prst="rect">
              <a:avLst/>
            </a:prstGeom>
            <a:noFill/>
          </p:spPr>
          <p:txBody>
            <a:bodyPr wrap="square" rtlCol="0">
              <a:spAutoFit/>
            </a:bodyPr>
            <a:lstStyle/>
            <a:p>
              <a:pPr algn="ctr"/>
              <a:r>
                <a:rPr lang="en-US" dirty="0">
                  <a:latin typeface="Amasis MT Pro Medium (Body)"/>
                  <a:ea typeface="DengXian" panose="02010600030101010101" pitchFamily="2" charset="-122"/>
                </a:rPr>
                <a:t>F</a:t>
              </a:r>
              <a:r>
                <a:rPr lang="en-US" dirty="0">
                  <a:effectLst/>
                  <a:latin typeface="Amasis MT Pro Medium (Body)"/>
                  <a:ea typeface="DengXian" panose="02010600030101010101" pitchFamily="2" charset="-122"/>
                </a:rPr>
                <a:t>or training the model using the data provided and evaluates its performance, using a function shows the accuracy of the model how it learned percentage.</a:t>
              </a:r>
              <a:endParaRPr lang="en-US" dirty="0">
                <a:latin typeface="Amasis MT Pro Medium (Body)"/>
              </a:endParaRPr>
            </a:p>
          </p:txBody>
        </p:sp>
      </p:grpSp>
      <p:sp useBgFill="1">
        <p:nvSpPr>
          <p:cNvPr id="45" name="Flowchart: Process 44">
            <a:extLst>
              <a:ext uri="{FF2B5EF4-FFF2-40B4-BE49-F238E27FC236}">
                <a16:creationId xmlns:a16="http://schemas.microsoft.com/office/drawing/2014/main" id="{A0CCA9E3-CAB0-6D68-65A9-D220F4169306}"/>
              </a:ext>
            </a:extLst>
          </p:cNvPr>
          <p:cNvSpPr/>
          <p:nvPr/>
        </p:nvSpPr>
        <p:spPr>
          <a:xfrm>
            <a:off x="0" y="-144380"/>
            <a:ext cx="12192000" cy="2811105"/>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Country Distribution">
            <a:extLst>
              <a:ext uri="{FF2B5EF4-FFF2-40B4-BE49-F238E27FC236}">
                <a16:creationId xmlns:a16="http://schemas.microsoft.com/office/drawing/2014/main" id="{C7B73D10-3767-74BA-06DD-299D8FBBB264}"/>
              </a:ext>
            </a:extLst>
          </p:cNvPr>
          <p:cNvGrpSpPr/>
          <p:nvPr/>
        </p:nvGrpSpPr>
        <p:grpSpPr>
          <a:xfrm>
            <a:off x="9191594" y="1584705"/>
            <a:ext cx="2458800" cy="1278000"/>
            <a:chOff x="9100914" y="3614827"/>
            <a:chExt cx="2458800" cy="1278000"/>
          </a:xfrm>
        </p:grpSpPr>
        <p:sp>
          <p:nvSpPr>
            <p:cNvPr id="8" name="Flowchart: Document 7">
              <a:extLst>
                <a:ext uri="{FF2B5EF4-FFF2-40B4-BE49-F238E27FC236}">
                  <a16:creationId xmlns:a16="http://schemas.microsoft.com/office/drawing/2014/main" id="{F9DE63BD-17B7-5586-50BC-B053CA9F6110}"/>
                </a:ext>
              </a:extLst>
            </p:cNvPr>
            <p:cNvSpPr/>
            <p:nvPr/>
          </p:nvSpPr>
          <p:spPr>
            <a:xfrm>
              <a:off x="9100914"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TextBox 8">
              <a:extLst>
                <a:ext uri="{FF2B5EF4-FFF2-40B4-BE49-F238E27FC236}">
                  <a16:creationId xmlns:a16="http://schemas.microsoft.com/office/drawing/2014/main" id="{8471C74E-A13C-0409-227A-EF6E5591C38E}"/>
                </a:ext>
              </a:extLst>
            </p:cNvPr>
            <p:cNvSpPr txBox="1"/>
            <p:nvPr/>
          </p:nvSpPr>
          <p:spPr>
            <a:xfrm rot="16200000">
              <a:off x="9870704" y="3246218"/>
              <a:ext cx="923330"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Accuracy &amp; Loss Models</a:t>
              </a:r>
            </a:p>
          </p:txBody>
        </p:sp>
      </p:grpSp>
      <p:grpSp>
        <p:nvGrpSpPr>
          <p:cNvPr id="13" name="Box Plot of Age by Gender">
            <a:extLst>
              <a:ext uri="{FF2B5EF4-FFF2-40B4-BE49-F238E27FC236}">
                <a16:creationId xmlns:a16="http://schemas.microsoft.com/office/drawing/2014/main" id="{EF522DF7-D498-0924-7AE7-6BF6008DB3D9}"/>
              </a:ext>
            </a:extLst>
          </p:cNvPr>
          <p:cNvGrpSpPr/>
          <p:nvPr/>
        </p:nvGrpSpPr>
        <p:grpSpPr>
          <a:xfrm>
            <a:off x="4895816" y="1632470"/>
            <a:ext cx="2458800" cy="1278000"/>
            <a:chOff x="6273253" y="3614827"/>
            <a:chExt cx="2458800" cy="1278000"/>
          </a:xfrm>
        </p:grpSpPr>
        <p:sp>
          <p:nvSpPr>
            <p:cNvPr id="14" name="Flowchart: Document 13">
              <a:extLst>
                <a:ext uri="{FF2B5EF4-FFF2-40B4-BE49-F238E27FC236}">
                  <a16:creationId xmlns:a16="http://schemas.microsoft.com/office/drawing/2014/main" id="{3E5078C7-FEF4-EF9F-AB06-5339AD9950E4}"/>
                </a:ext>
              </a:extLst>
            </p:cNvPr>
            <p:cNvSpPr/>
            <p:nvPr/>
          </p:nvSpPr>
          <p:spPr>
            <a:xfrm>
              <a:off x="6273253"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5" name="TextBox 14">
              <a:extLst>
                <a:ext uri="{FF2B5EF4-FFF2-40B4-BE49-F238E27FC236}">
                  <a16:creationId xmlns:a16="http://schemas.microsoft.com/office/drawing/2014/main" id="{236585DB-979C-4CF2-1288-2FF8899F47AF}"/>
                </a:ext>
              </a:extLst>
            </p:cNvPr>
            <p:cNvSpPr txBox="1"/>
            <p:nvPr/>
          </p:nvSpPr>
          <p:spPr>
            <a:xfrm rot="16200000">
              <a:off x="7040988" y="3189707"/>
              <a:ext cx="923330"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Shows the image</a:t>
              </a:r>
            </a:p>
          </p:txBody>
        </p:sp>
      </p:grpSp>
      <p:sp>
        <p:nvSpPr>
          <p:cNvPr id="27" name="TextBox 26">
            <a:extLst>
              <a:ext uri="{FF2B5EF4-FFF2-40B4-BE49-F238E27FC236}">
                <a16:creationId xmlns:a16="http://schemas.microsoft.com/office/drawing/2014/main" id="{76884F83-280E-21FD-77A5-A35AF40DDF11}"/>
              </a:ext>
            </a:extLst>
          </p:cNvPr>
          <p:cNvSpPr txBox="1"/>
          <p:nvPr/>
        </p:nvSpPr>
        <p:spPr>
          <a:xfrm rot="16200000">
            <a:off x="1339963" y="1372782"/>
            <a:ext cx="923330" cy="1881352"/>
          </a:xfrm>
          <a:prstGeom prst="rect">
            <a:avLst/>
          </a:prstGeom>
          <a:noFill/>
        </p:spPr>
        <p:txBody>
          <a:bodyPr vert="eaVert" wrap="square" rtlCol="0">
            <a:spAutoFit/>
          </a:bodyPr>
          <a:lstStyle/>
          <a:p>
            <a:pPr algn="ctr"/>
            <a:r>
              <a:rPr lang="en-US" altLang="zh-CN" sz="2400" dirty="0">
                <a:solidFill>
                  <a:schemeClr val="tx2">
                    <a:lumMod val="40000"/>
                    <a:lumOff val="60000"/>
                  </a:schemeClr>
                </a:solidFill>
              </a:rPr>
              <a:t>Importing libraries</a:t>
            </a:r>
            <a:endParaRPr lang="en-US" sz="2400" dirty="0">
              <a:solidFill>
                <a:schemeClr val="tx2">
                  <a:lumMod val="40000"/>
                  <a:lumOff val="60000"/>
                </a:schemeClr>
              </a:solidFill>
            </a:endParaRPr>
          </a:p>
        </p:txBody>
      </p:sp>
      <p:cxnSp>
        <p:nvCxnSpPr>
          <p:cNvPr id="28" name="Straight Connector 27">
            <a:extLst>
              <a:ext uri="{FF2B5EF4-FFF2-40B4-BE49-F238E27FC236}">
                <a16:creationId xmlns:a16="http://schemas.microsoft.com/office/drawing/2014/main" id="{FD5E1976-37D6-339F-5233-51BDD8BD0C81}"/>
              </a:ext>
            </a:extLst>
          </p:cNvPr>
          <p:cNvCxnSpPr>
            <a:cxnSpLocks/>
          </p:cNvCxnSpPr>
          <p:nvPr/>
        </p:nvCxnSpPr>
        <p:spPr>
          <a:xfrm>
            <a:off x="8190106" y="784372"/>
            <a:ext cx="3646583" cy="0"/>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2F43E9B6-B60E-EAB1-820B-059DCB8FF8E2}"/>
              </a:ext>
            </a:extLst>
          </p:cNvPr>
          <p:cNvSpPr txBox="1"/>
          <p:nvPr/>
        </p:nvSpPr>
        <p:spPr>
          <a:xfrm>
            <a:off x="2343614" y="412595"/>
            <a:ext cx="7504771" cy="646331"/>
          </a:xfrm>
          <a:prstGeom prst="rect">
            <a:avLst/>
          </a:prstGeom>
          <a:noFill/>
        </p:spPr>
        <p:txBody>
          <a:bodyPr wrap="square" rtlCol="0">
            <a:spAutoFit/>
          </a:bodyPr>
          <a:lstStyle/>
          <a:p>
            <a:pPr algn="ctr"/>
            <a:r>
              <a:rPr lang="en-US" sz="3600" dirty="0">
                <a:latin typeface="+mj-lt"/>
              </a:rPr>
              <a:t>Implementation</a:t>
            </a:r>
          </a:p>
        </p:txBody>
      </p:sp>
      <p:cxnSp>
        <p:nvCxnSpPr>
          <p:cNvPr id="30" name="Straight Connector 29">
            <a:extLst>
              <a:ext uri="{FF2B5EF4-FFF2-40B4-BE49-F238E27FC236}">
                <a16:creationId xmlns:a16="http://schemas.microsoft.com/office/drawing/2014/main" id="{4A25004C-6231-323A-68C7-BE203DD5B2B2}"/>
              </a:ext>
            </a:extLst>
          </p:cNvPr>
          <p:cNvCxnSpPr>
            <a:cxnSpLocks/>
          </p:cNvCxnSpPr>
          <p:nvPr/>
        </p:nvCxnSpPr>
        <p:spPr>
          <a:xfrm>
            <a:off x="374983" y="784372"/>
            <a:ext cx="3646583"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9" name="Age Distribution">
            <a:extLst>
              <a:ext uri="{FF2B5EF4-FFF2-40B4-BE49-F238E27FC236}">
                <a16:creationId xmlns:a16="http://schemas.microsoft.com/office/drawing/2014/main" id="{843587E1-CE3B-CD20-CD04-FDAC82D97137}"/>
              </a:ext>
            </a:extLst>
          </p:cNvPr>
          <p:cNvGrpSpPr/>
          <p:nvPr/>
        </p:nvGrpSpPr>
        <p:grpSpPr>
          <a:xfrm>
            <a:off x="646780" y="1705262"/>
            <a:ext cx="2458800" cy="1278000"/>
            <a:chOff x="3434296" y="3614827"/>
            <a:chExt cx="2458800" cy="1278000"/>
          </a:xfrm>
        </p:grpSpPr>
        <p:sp>
          <p:nvSpPr>
            <p:cNvPr id="20" name="Flowchart: Document 19">
              <a:extLst>
                <a:ext uri="{FF2B5EF4-FFF2-40B4-BE49-F238E27FC236}">
                  <a16:creationId xmlns:a16="http://schemas.microsoft.com/office/drawing/2014/main" id="{9D6AA0FB-4B93-11E7-E050-C9CF2ABEEFA4}"/>
                </a:ext>
              </a:extLst>
            </p:cNvPr>
            <p:cNvSpPr/>
            <p:nvPr/>
          </p:nvSpPr>
          <p:spPr>
            <a:xfrm>
              <a:off x="3434296" y="3614827"/>
              <a:ext cx="2458800" cy="1278000"/>
            </a:xfrm>
            <a:prstGeom prst="flowChartDocumen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86416395-E447-2AA7-F865-DF407EAB3748}"/>
                </a:ext>
              </a:extLst>
            </p:cNvPr>
            <p:cNvSpPr txBox="1"/>
            <p:nvPr/>
          </p:nvSpPr>
          <p:spPr>
            <a:xfrm rot="16200000">
              <a:off x="4226508" y="3192069"/>
              <a:ext cx="923330" cy="1881352"/>
            </a:xfrm>
            <a:prstGeom prst="rect">
              <a:avLst/>
            </a:prstGeom>
            <a:noFill/>
          </p:spPr>
          <p:txBody>
            <a:bodyPr vert="eaVert" wrap="square" rtlCol="0">
              <a:spAutoFit/>
            </a:bodyPr>
            <a:lstStyle/>
            <a:p>
              <a:pPr algn="ctr"/>
              <a:r>
                <a:rPr lang="en-US" sz="2400" dirty="0">
                  <a:solidFill>
                    <a:schemeClr val="tx2">
                      <a:lumMod val="40000"/>
                      <a:lumOff val="60000"/>
                    </a:schemeClr>
                  </a:solidFill>
                </a:rPr>
                <a:t>T</a:t>
              </a:r>
              <a:r>
                <a:rPr lang="en-US" altLang="zh-CN" sz="2400" dirty="0">
                  <a:solidFill>
                    <a:schemeClr val="tx2">
                      <a:lumMod val="40000"/>
                      <a:lumOff val="60000"/>
                    </a:schemeClr>
                  </a:solidFill>
                </a:rPr>
                <a:t>raining model</a:t>
              </a:r>
              <a:endParaRPr lang="en-US" sz="2400" dirty="0">
                <a:solidFill>
                  <a:schemeClr val="tx2">
                    <a:lumMod val="40000"/>
                    <a:lumOff val="60000"/>
                  </a:schemeClr>
                </a:solidFill>
              </a:endParaRPr>
            </a:p>
          </p:txBody>
        </p:sp>
      </p:grpSp>
    </p:spTree>
    <p:extLst>
      <p:ext uri="{BB962C8B-B14F-4D97-AF65-F5344CB8AC3E}">
        <p14:creationId xmlns:p14="http://schemas.microsoft.com/office/powerpoint/2010/main" val="33963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fill="hold"/>
                                        <p:tgtEl>
                                          <p:spTgt spid="22"/>
                                        </p:tgtEl>
                                        <p:attrNameLst>
                                          <p:attrName>ppt_x</p:attrName>
                                        </p:attrNameLst>
                                      </p:cBhvr>
                                      <p:tavLst>
                                        <p:tav tm="0">
                                          <p:val>
                                            <p:strVal val="#ppt_x"/>
                                          </p:val>
                                        </p:tav>
                                        <p:tav tm="100000">
                                          <p:val>
                                            <p:strVal val="#ppt_x"/>
                                          </p:val>
                                        </p:tav>
                                      </p:tavLst>
                                    </p:anim>
                                    <p:anim calcmode="lin" valueType="num">
                                      <p:cBhvr additive="base">
                                        <p:cTn id="8" dur="1000" fill="hold"/>
                                        <p:tgtEl>
                                          <p:spTgt spid="22"/>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1" fill="hold"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1000" fill="hold"/>
                                        <p:tgtEl>
                                          <p:spTgt spid="24"/>
                                        </p:tgtEl>
                                        <p:attrNameLst>
                                          <p:attrName>ppt_x</p:attrName>
                                        </p:attrNameLst>
                                      </p:cBhvr>
                                      <p:tavLst>
                                        <p:tav tm="0">
                                          <p:val>
                                            <p:strVal val="#ppt_x"/>
                                          </p:val>
                                        </p:tav>
                                        <p:tav tm="100000">
                                          <p:val>
                                            <p:strVal val="#ppt_x"/>
                                          </p:val>
                                        </p:tav>
                                      </p:tavLst>
                                    </p:anim>
                                    <p:anim calcmode="lin" valueType="num">
                                      <p:cBhvr additive="base">
                                        <p:cTn id="13" dur="1000" fill="hold"/>
                                        <p:tgtEl>
                                          <p:spTgt spid="24"/>
                                        </p:tgtEl>
                                        <p:attrNameLst>
                                          <p:attrName>ppt_y</p:attrName>
                                        </p:attrNameLst>
                                      </p:cBhvr>
                                      <p:tavLst>
                                        <p:tav tm="0">
                                          <p:val>
                                            <p:strVal val="0-#ppt_h/2"/>
                                          </p:val>
                                        </p:tav>
                                        <p:tav tm="100000">
                                          <p:val>
                                            <p:strVal val="#ppt_y"/>
                                          </p:val>
                                        </p:tav>
                                      </p:tavLst>
                                    </p:anim>
                                  </p:childTnLst>
                                </p:cTn>
                              </p:par>
                            </p:childTnLst>
                          </p:cTn>
                        </p:par>
                        <p:par>
                          <p:cTn id="14" fill="hold">
                            <p:stCondLst>
                              <p:cond delay="2000"/>
                            </p:stCondLst>
                            <p:childTnLst>
                              <p:par>
                                <p:cTn id="15" presetID="2" presetClass="entr" presetSubtype="1"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1000" fill="hold"/>
                                        <p:tgtEl>
                                          <p:spTgt spid="25"/>
                                        </p:tgtEl>
                                        <p:attrNameLst>
                                          <p:attrName>ppt_x</p:attrName>
                                        </p:attrNameLst>
                                      </p:cBhvr>
                                      <p:tavLst>
                                        <p:tav tm="0">
                                          <p:val>
                                            <p:strVal val="#ppt_x"/>
                                          </p:val>
                                        </p:tav>
                                        <p:tav tm="100000">
                                          <p:val>
                                            <p:strVal val="#ppt_x"/>
                                          </p:val>
                                        </p:tav>
                                      </p:tavLst>
                                    </p:anim>
                                    <p:anim calcmode="lin" valueType="num">
                                      <p:cBhvr additive="base">
                                        <p:cTn id="18" dur="10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8DF27E-3151-216A-856D-4DC165B1478B}"/>
              </a:ext>
            </a:extLst>
          </p:cNvPr>
          <p:cNvSpPr txBox="1"/>
          <p:nvPr/>
        </p:nvSpPr>
        <p:spPr>
          <a:xfrm>
            <a:off x="4287520" y="105036"/>
            <a:ext cx="3616960" cy="769441"/>
          </a:xfrm>
          <a:prstGeom prst="rect">
            <a:avLst/>
          </a:prstGeom>
          <a:noFill/>
        </p:spPr>
        <p:txBody>
          <a:bodyPr wrap="square" rtlCol="0">
            <a:spAutoFit/>
          </a:bodyPr>
          <a:lstStyle/>
          <a:p>
            <a:pPr algn="ctr"/>
            <a:r>
              <a:rPr lang="en-US" sz="4400" dirty="0">
                <a:latin typeface="+mj-lt"/>
              </a:rPr>
              <a:t>Result</a:t>
            </a:r>
          </a:p>
        </p:txBody>
      </p:sp>
      <p:cxnSp>
        <p:nvCxnSpPr>
          <p:cNvPr id="5" name="Straight Connector 4">
            <a:extLst>
              <a:ext uri="{FF2B5EF4-FFF2-40B4-BE49-F238E27FC236}">
                <a16:creationId xmlns:a16="http://schemas.microsoft.com/office/drawing/2014/main" id="{FD12EF85-B7FD-E65E-DA35-7430A6B3D384}"/>
              </a:ext>
            </a:extLst>
          </p:cNvPr>
          <p:cNvCxnSpPr>
            <a:cxnSpLocks/>
          </p:cNvCxnSpPr>
          <p:nvPr/>
        </p:nvCxnSpPr>
        <p:spPr>
          <a:xfrm>
            <a:off x="867432" y="407428"/>
            <a:ext cx="36465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F9E7D40-7EF4-D348-F300-75E99E6D83DA}"/>
              </a:ext>
            </a:extLst>
          </p:cNvPr>
          <p:cNvCxnSpPr>
            <a:cxnSpLocks/>
          </p:cNvCxnSpPr>
          <p:nvPr/>
        </p:nvCxnSpPr>
        <p:spPr>
          <a:xfrm>
            <a:off x="7643102" y="422366"/>
            <a:ext cx="3646583" cy="0"/>
          </a:xfrm>
          <a:prstGeom prst="line">
            <a:avLst/>
          </a:prstGeom>
        </p:spPr>
        <p:style>
          <a:lnRef idx="2">
            <a:schemeClr val="accent1"/>
          </a:lnRef>
          <a:fillRef idx="0">
            <a:schemeClr val="accent1"/>
          </a:fillRef>
          <a:effectRef idx="1">
            <a:schemeClr val="accent1"/>
          </a:effectRef>
          <a:fontRef idx="minor">
            <a:schemeClr val="tx1"/>
          </a:fontRef>
        </p:style>
      </p:cxnSp>
      <p:pic>
        <p:nvPicPr>
          <p:cNvPr id="28" name="Picture 27" descr="A collage of a group of people&#10;&#10;AI-generated content may be incorrect.">
            <a:extLst>
              <a:ext uri="{FF2B5EF4-FFF2-40B4-BE49-F238E27FC236}">
                <a16:creationId xmlns:a16="http://schemas.microsoft.com/office/drawing/2014/main" id="{C8D9E947-6CA0-3D0E-7CE1-FED332AD6C40}"/>
              </a:ext>
            </a:extLst>
          </p:cNvPr>
          <p:cNvPicPr>
            <a:picLocks noChangeAspect="1"/>
          </p:cNvPicPr>
          <p:nvPr/>
        </p:nvPicPr>
        <p:blipFill rotWithShape="1">
          <a:blip r:embed="rId3">
            <a:extLst>
              <a:ext uri="{28A0092B-C50C-407E-A947-70E740481C1C}">
                <a14:useLocalDpi xmlns:a14="http://schemas.microsoft.com/office/drawing/2010/main" val="0"/>
              </a:ext>
            </a:extLst>
          </a:blip>
          <a:srcRect t="1" r="11133" b="656"/>
          <a:stretch/>
        </p:blipFill>
        <p:spPr bwMode="auto">
          <a:xfrm>
            <a:off x="7855991" y="4786656"/>
            <a:ext cx="3174280" cy="1966308"/>
          </a:xfrm>
          <a:prstGeom prst="rect">
            <a:avLst/>
          </a:prstGeom>
          <a:noFill/>
          <a:ln>
            <a:noFill/>
          </a:ln>
          <a:extLst>
            <a:ext uri="{53640926-AAD7-44D8-BBD7-CCE9431645EC}">
              <a14:shadowObscured xmlns:a14="http://schemas.microsoft.com/office/drawing/2010/main"/>
            </a:ext>
          </a:extLst>
        </p:spPr>
      </p:pic>
      <p:pic>
        <p:nvPicPr>
          <p:cNvPr id="29" name="Picture 28">
            <a:extLst>
              <a:ext uri="{FF2B5EF4-FFF2-40B4-BE49-F238E27FC236}">
                <a16:creationId xmlns:a16="http://schemas.microsoft.com/office/drawing/2014/main" id="{5959CB22-E04A-AEB4-B09C-9B8A0A86B272}"/>
              </a:ext>
            </a:extLst>
          </p:cNvPr>
          <p:cNvPicPr>
            <a:picLocks noChangeAspect="1"/>
          </p:cNvPicPr>
          <p:nvPr/>
        </p:nvPicPr>
        <p:blipFill>
          <a:blip r:embed="rId4"/>
          <a:stretch>
            <a:fillRect/>
          </a:stretch>
        </p:blipFill>
        <p:spPr>
          <a:xfrm>
            <a:off x="7855991" y="1588339"/>
            <a:ext cx="3256013" cy="2382186"/>
          </a:xfrm>
          <a:prstGeom prst="rect">
            <a:avLst/>
          </a:prstGeom>
        </p:spPr>
      </p:pic>
      <p:pic>
        <p:nvPicPr>
          <p:cNvPr id="31" name="Picture 30" descr="A graph of a loss of a loss&#10;&#10;AI-generated content may be incorrect.">
            <a:extLst>
              <a:ext uri="{FF2B5EF4-FFF2-40B4-BE49-F238E27FC236}">
                <a16:creationId xmlns:a16="http://schemas.microsoft.com/office/drawing/2014/main" id="{9CA7E793-7FE1-9BFC-D718-47F043D20AE5}"/>
              </a:ext>
            </a:extLst>
          </p:cNvPr>
          <p:cNvPicPr>
            <a:picLocks noChangeAspect="1"/>
          </p:cNvPicPr>
          <p:nvPr/>
        </p:nvPicPr>
        <p:blipFill rotWithShape="1">
          <a:blip r:embed="rId5"/>
          <a:srcRect r="49758"/>
          <a:stretch/>
        </p:blipFill>
        <p:spPr bwMode="auto">
          <a:xfrm>
            <a:off x="600072" y="1836979"/>
            <a:ext cx="2864695" cy="2052830"/>
          </a:xfrm>
          <a:prstGeom prst="rect">
            <a:avLst/>
          </a:prstGeom>
          <a:ln>
            <a:noFill/>
          </a:ln>
          <a:extLst>
            <a:ext uri="{53640926-AAD7-44D8-BBD7-CCE9431645EC}">
              <a14:shadowObscured xmlns:a14="http://schemas.microsoft.com/office/drawing/2010/main"/>
            </a:ext>
          </a:extLst>
        </p:spPr>
      </p:pic>
      <p:pic>
        <p:nvPicPr>
          <p:cNvPr id="32" name="Picture 31" descr="A graph of a loss of a loss&#10;&#10;AI-generated content may be incorrect.">
            <a:extLst>
              <a:ext uri="{FF2B5EF4-FFF2-40B4-BE49-F238E27FC236}">
                <a16:creationId xmlns:a16="http://schemas.microsoft.com/office/drawing/2014/main" id="{734CFD3B-E747-0650-95B5-131E4C7D4F83}"/>
              </a:ext>
            </a:extLst>
          </p:cNvPr>
          <p:cNvPicPr>
            <a:picLocks noChangeAspect="1"/>
          </p:cNvPicPr>
          <p:nvPr/>
        </p:nvPicPr>
        <p:blipFill rotWithShape="1">
          <a:blip r:embed="rId5"/>
          <a:srcRect l="48826"/>
          <a:stretch/>
        </p:blipFill>
        <p:spPr bwMode="auto">
          <a:xfrm>
            <a:off x="3646145" y="1835628"/>
            <a:ext cx="2864695" cy="2080605"/>
          </a:xfrm>
          <a:prstGeom prst="rect">
            <a:avLst/>
          </a:prstGeom>
          <a:ln>
            <a:noFill/>
          </a:ln>
          <a:extLst>
            <a:ext uri="{53640926-AAD7-44D8-BBD7-CCE9431645EC}">
              <a14:shadowObscured xmlns:a14="http://schemas.microsoft.com/office/drawing/2010/main"/>
            </a:ext>
          </a:extLst>
        </p:spPr>
      </p:pic>
      <p:pic>
        <p:nvPicPr>
          <p:cNvPr id="34" name="Picture 33">
            <a:extLst>
              <a:ext uri="{FF2B5EF4-FFF2-40B4-BE49-F238E27FC236}">
                <a16:creationId xmlns:a16="http://schemas.microsoft.com/office/drawing/2014/main" id="{B7B533BF-2BFA-2B67-B2B0-C4FE230183EC}"/>
              </a:ext>
            </a:extLst>
          </p:cNvPr>
          <p:cNvPicPr>
            <a:picLocks noChangeAspect="1"/>
          </p:cNvPicPr>
          <p:nvPr/>
        </p:nvPicPr>
        <p:blipFill>
          <a:blip r:embed="rId6"/>
          <a:stretch>
            <a:fillRect/>
          </a:stretch>
        </p:blipFill>
        <p:spPr>
          <a:xfrm>
            <a:off x="1310148" y="4826605"/>
            <a:ext cx="4080774" cy="1926359"/>
          </a:xfrm>
          <a:prstGeom prst="rect">
            <a:avLst/>
          </a:prstGeom>
        </p:spPr>
      </p:pic>
      <p:grpSp>
        <p:nvGrpSpPr>
          <p:cNvPr id="46" name="Group 45">
            <a:extLst>
              <a:ext uri="{FF2B5EF4-FFF2-40B4-BE49-F238E27FC236}">
                <a16:creationId xmlns:a16="http://schemas.microsoft.com/office/drawing/2014/main" id="{FF625D22-6CCA-0983-4705-775A15D68527}"/>
              </a:ext>
            </a:extLst>
          </p:cNvPr>
          <p:cNvGrpSpPr/>
          <p:nvPr/>
        </p:nvGrpSpPr>
        <p:grpSpPr>
          <a:xfrm>
            <a:off x="1252239" y="988255"/>
            <a:ext cx="9989985" cy="3799543"/>
            <a:chOff x="1252239" y="988255"/>
            <a:chExt cx="9989985" cy="3799543"/>
          </a:xfrm>
        </p:grpSpPr>
        <p:sp>
          <p:nvSpPr>
            <p:cNvPr id="25" name="TextBox 24">
              <a:extLst>
                <a:ext uri="{FF2B5EF4-FFF2-40B4-BE49-F238E27FC236}">
                  <a16:creationId xmlns:a16="http://schemas.microsoft.com/office/drawing/2014/main" id="{6B510629-968E-3A65-65A4-9E8625D5469A}"/>
                </a:ext>
              </a:extLst>
            </p:cNvPr>
            <p:cNvSpPr txBox="1"/>
            <p:nvPr/>
          </p:nvSpPr>
          <p:spPr>
            <a:xfrm>
              <a:off x="7725772" y="988255"/>
              <a:ext cx="3516452" cy="584775"/>
            </a:xfrm>
            <a:prstGeom prst="rect">
              <a:avLst/>
            </a:prstGeom>
            <a:noFill/>
          </p:spPr>
          <p:txBody>
            <a:bodyPr wrap="square" rtlCol="0">
              <a:spAutoFit/>
            </a:bodyPr>
            <a:lstStyle/>
            <a:p>
              <a:pPr algn="ctr"/>
              <a:r>
                <a:rPr lang="en-US" sz="3200" dirty="0">
                  <a:solidFill>
                    <a:schemeClr val="bg1">
                      <a:lumMod val="50000"/>
                    </a:schemeClr>
                  </a:solidFill>
                </a:rPr>
                <a:t>Confusion Matrix</a:t>
              </a:r>
            </a:p>
          </p:txBody>
        </p:sp>
        <p:sp>
          <p:nvSpPr>
            <p:cNvPr id="27" name="TextBox 26">
              <a:extLst>
                <a:ext uri="{FF2B5EF4-FFF2-40B4-BE49-F238E27FC236}">
                  <a16:creationId xmlns:a16="http://schemas.microsoft.com/office/drawing/2014/main" id="{90CE9C26-078F-B782-B3B8-41D477D78138}"/>
                </a:ext>
              </a:extLst>
            </p:cNvPr>
            <p:cNvSpPr txBox="1"/>
            <p:nvPr/>
          </p:nvSpPr>
          <p:spPr>
            <a:xfrm>
              <a:off x="8123297" y="4203023"/>
              <a:ext cx="2476553" cy="584775"/>
            </a:xfrm>
            <a:prstGeom prst="rect">
              <a:avLst/>
            </a:prstGeom>
            <a:noFill/>
          </p:spPr>
          <p:txBody>
            <a:bodyPr wrap="square" rtlCol="0">
              <a:spAutoFit/>
            </a:bodyPr>
            <a:lstStyle/>
            <a:p>
              <a:pPr algn="ctr"/>
              <a:r>
                <a:rPr lang="en-US" sz="3200" dirty="0">
                  <a:solidFill>
                    <a:schemeClr val="bg1">
                      <a:lumMod val="50000"/>
                    </a:schemeClr>
                  </a:solidFill>
                </a:rPr>
                <a:t>Prediction</a:t>
              </a:r>
            </a:p>
          </p:txBody>
        </p:sp>
        <p:sp>
          <p:nvSpPr>
            <p:cNvPr id="24" name="TextBox 23">
              <a:extLst>
                <a:ext uri="{FF2B5EF4-FFF2-40B4-BE49-F238E27FC236}">
                  <a16:creationId xmlns:a16="http://schemas.microsoft.com/office/drawing/2014/main" id="{1392B95C-FC71-B36B-0BCD-9768681F08AF}"/>
                </a:ext>
              </a:extLst>
            </p:cNvPr>
            <p:cNvSpPr txBox="1"/>
            <p:nvPr/>
          </p:nvSpPr>
          <p:spPr>
            <a:xfrm>
              <a:off x="1273618" y="988255"/>
              <a:ext cx="4571370" cy="584775"/>
            </a:xfrm>
            <a:prstGeom prst="rect">
              <a:avLst/>
            </a:prstGeom>
            <a:noFill/>
          </p:spPr>
          <p:txBody>
            <a:bodyPr wrap="square" rtlCol="0">
              <a:spAutoFit/>
            </a:bodyPr>
            <a:lstStyle/>
            <a:p>
              <a:pPr algn="ctr"/>
              <a:r>
                <a:rPr lang="en-US" sz="3200" dirty="0">
                  <a:solidFill>
                    <a:schemeClr val="bg1">
                      <a:lumMod val="50000"/>
                    </a:schemeClr>
                  </a:solidFill>
                </a:rPr>
                <a:t>Model &amp; Loss accuracy</a:t>
              </a:r>
            </a:p>
          </p:txBody>
        </p:sp>
        <p:sp>
          <p:nvSpPr>
            <p:cNvPr id="26" name="TextBox 25">
              <a:extLst>
                <a:ext uri="{FF2B5EF4-FFF2-40B4-BE49-F238E27FC236}">
                  <a16:creationId xmlns:a16="http://schemas.microsoft.com/office/drawing/2014/main" id="{8225DABF-9117-4AD0-FFAA-C8E634B7182A}"/>
                </a:ext>
              </a:extLst>
            </p:cNvPr>
            <p:cNvSpPr txBox="1"/>
            <p:nvPr/>
          </p:nvSpPr>
          <p:spPr>
            <a:xfrm>
              <a:off x="1252239" y="4137117"/>
              <a:ext cx="4338288" cy="584775"/>
            </a:xfrm>
            <a:prstGeom prst="rect">
              <a:avLst/>
            </a:prstGeom>
            <a:noFill/>
          </p:spPr>
          <p:txBody>
            <a:bodyPr wrap="square" rtlCol="0">
              <a:spAutoFit/>
            </a:bodyPr>
            <a:lstStyle/>
            <a:p>
              <a:pPr algn="ctr"/>
              <a:r>
                <a:rPr lang="en-US" sz="3200" dirty="0">
                  <a:solidFill>
                    <a:schemeClr val="bg1">
                      <a:lumMod val="50000"/>
                    </a:schemeClr>
                  </a:solidFill>
                </a:rPr>
                <a:t>Classification Report</a:t>
              </a:r>
            </a:p>
          </p:txBody>
        </p:sp>
      </p:grpSp>
      <p:grpSp>
        <p:nvGrpSpPr>
          <p:cNvPr id="45" name="Group 44">
            <a:extLst>
              <a:ext uri="{FF2B5EF4-FFF2-40B4-BE49-F238E27FC236}">
                <a16:creationId xmlns:a16="http://schemas.microsoft.com/office/drawing/2014/main" id="{28DEAFCF-D5D6-93C7-5FA0-FA4451813914}"/>
              </a:ext>
            </a:extLst>
          </p:cNvPr>
          <p:cNvGrpSpPr/>
          <p:nvPr/>
        </p:nvGrpSpPr>
        <p:grpSpPr>
          <a:xfrm>
            <a:off x="410820" y="845128"/>
            <a:ext cx="7013244" cy="4159200"/>
            <a:chOff x="410820" y="845128"/>
            <a:chExt cx="7013244" cy="4159200"/>
          </a:xfrm>
        </p:grpSpPr>
        <p:grpSp>
          <p:nvGrpSpPr>
            <p:cNvPr id="16" name="Group 15">
              <a:extLst>
                <a:ext uri="{FF2B5EF4-FFF2-40B4-BE49-F238E27FC236}">
                  <a16:creationId xmlns:a16="http://schemas.microsoft.com/office/drawing/2014/main" id="{B9BDEC1D-328A-E9C8-EFD8-8BA5F8467D84}"/>
                </a:ext>
              </a:extLst>
            </p:cNvPr>
            <p:cNvGrpSpPr/>
            <p:nvPr/>
          </p:nvGrpSpPr>
          <p:grpSpPr>
            <a:xfrm>
              <a:off x="464641" y="874477"/>
              <a:ext cx="913224" cy="920038"/>
              <a:chOff x="867433" y="1257135"/>
              <a:chExt cx="510431" cy="537380"/>
            </a:xfrm>
          </p:grpSpPr>
          <p:sp>
            <p:nvSpPr>
              <p:cNvPr id="2" name="Oval 1">
                <a:extLst>
                  <a:ext uri="{FF2B5EF4-FFF2-40B4-BE49-F238E27FC236}">
                    <a16:creationId xmlns:a16="http://schemas.microsoft.com/office/drawing/2014/main" id="{CB0900D2-813F-BE53-B1BE-AA0CE801D99A}"/>
                  </a:ext>
                </a:extLst>
              </p:cNvPr>
              <p:cNvSpPr/>
              <p:nvPr/>
            </p:nvSpPr>
            <p:spPr>
              <a:xfrm>
                <a:off x="867433" y="1257135"/>
                <a:ext cx="510431" cy="537380"/>
              </a:xfrm>
              <a:prstGeom prst="ellipse">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0A842341-7F59-09D8-11EF-66E22DBD4DB8}"/>
                  </a:ext>
                </a:extLst>
              </p:cNvPr>
              <p:cNvSpPr txBox="1"/>
              <p:nvPr/>
            </p:nvSpPr>
            <p:spPr>
              <a:xfrm>
                <a:off x="943130" y="1332533"/>
                <a:ext cx="434734" cy="341558"/>
              </a:xfrm>
              <a:prstGeom prst="rect">
                <a:avLst/>
              </a:prstGeom>
              <a:noFill/>
            </p:spPr>
            <p:txBody>
              <a:bodyPr wrap="square" rtlCol="0">
                <a:spAutoFit/>
              </a:bodyPr>
              <a:lstStyle/>
              <a:p>
                <a:r>
                  <a:rPr lang="en-US" sz="3200" dirty="0">
                    <a:solidFill>
                      <a:srgbClr val="FFFFFF"/>
                    </a:solidFill>
                  </a:rPr>
                  <a:t>01</a:t>
                </a:r>
              </a:p>
            </p:txBody>
          </p:sp>
        </p:grpSp>
        <p:grpSp>
          <p:nvGrpSpPr>
            <p:cNvPr id="20" name="Group 19">
              <a:extLst>
                <a:ext uri="{FF2B5EF4-FFF2-40B4-BE49-F238E27FC236}">
                  <a16:creationId xmlns:a16="http://schemas.microsoft.com/office/drawing/2014/main" id="{538F91B7-D8D9-F39E-2F1C-9CED97991E3D}"/>
                </a:ext>
              </a:extLst>
            </p:cNvPr>
            <p:cNvGrpSpPr/>
            <p:nvPr/>
          </p:nvGrpSpPr>
          <p:grpSpPr>
            <a:xfrm>
              <a:off x="410820" y="4018385"/>
              <a:ext cx="913224" cy="920038"/>
              <a:chOff x="867433" y="1257135"/>
              <a:chExt cx="510431" cy="537380"/>
            </a:xfrm>
          </p:grpSpPr>
          <p:sp>
            <p:nvSpPr>
              <p:cNvPr id="21" name="Oval 20">
                <a:extLst>
                  <a:ext uri="{FF2B5EF4-FFF2-40B4-BE49-F238E27FC236}">
                    <a16:creationId xmlns:a16="http://schemas.microsoft.com/office/drawing/2014/main" id="{06FBEA9E-0AA6-8DA9-C3F2-CD83285B1CEF}"/>
                  </a:ext>
                </a:extLst>
              </p:cNvPr>
              <p:cNvSpPr/>
              <p:nvPr/>
            </p:nvSpPr>
            <p:spPr>
              <a:xfrm>
                <a:off x="867433" y="1257135"/>
                <a:ext cx="510431" cy="537380"/>
              </a:xfrm>
              <a:prstGeom prst="ellipse">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2FFE2AE1-3E50-CB2F-2640-A9DFE3308A7B}"/>
                  </a:ext>
                </a:extLst>
              </p:cNvPr>
              <p:cNvSpPr txBox="1"/>
              <p:nvPr/>
            </p:nvSpPr>
            <p:spPr>
              <a:xfrm>
                <a:off x="935363" y="1308508"/>
                <a:ext cx="434734" cy="377512"/>
              </a:xfrm>
              <a:prstGeom prst="rect">
                <a:avLst/>
              </a:prstGeom>
              <a:noFill/>
            </p:spPr>
            <p:txBody>
              <a:bodyPr wrap="square" rtlCol="0">
                <a:spAutoFit/>
              </a:bodyPr>
              <a:lstStyle/>
              <a:p>
                <a:r>
                  <a:rPr lang="en-US" sz="3600" dirty="0">
                    <a:solidFill>
                      <a:srgbClr val="FFFFFF"/>
                    </a:solidFill>
                  </a:rPr>
                  <a:t>03</a:t>
                </a:r>
              </a:p>
            </p:txBody>
          </p:sp>
        </p:grpSp>
        <p:grpSp>
          <p:nvGrpSpPr>
            <p:cNvPr id="23" name="Group 22">
              <a:extLst>
                <a:ext uri="{FF2B5EF4-FFF2-40B4-BE49-F238E27FC236}">
                  <a16:creationId xmlns:a16="http://schemas.microsoft.com/office/drawing/2014/main" id="{70F98174-BA9A-0632-8A0E-65D28197EE66}"/>
                </a:ext>
              </a:extLst>
            </p:cNvPr>
            <p:cNvGrpSpPr/>
            <p:nvPr/>
          </p:nvGrpSpPr>
          <p:grpSpPr>
            <a:xfrm>
              <a:off x="6510840" y="845128"/>
              <a:ext cx="913224" cy="920038"/>
              <a:chOff x="867433" y="1257135"/>
              <a:chExt cx="510431" cy="537380"/>
            </a:xfrm>
          </p:grpSpPr>
          <p:sp>
            <p:nvSpPr>
              <p:cNvPr id="30" name="Oval 29">
                <a:extLst>
                  <a:ext uri="{FF2B5EF4-FFF2-40B4-BE49-F238E27FC236}">
                    <a16:creationId xmlns:a16="http://schemas.microsoft.com/office/drawing/2014/main" id="{C291DD68-CCEF-F6E4-8FB8-BF095DB48FA0}"/>
                  </a:ext>
                </a:extLst>
              </p:cNvPr>
              <p:cNvSpPr/>
              <p:nvPr/>
            </p:nvSpPr>
            <p:spPr>
              <a:xfrm>
                <a:off x="867433" y="1257135"/>
                <a:ext cx="510431" cy="537380"/>
              </a:xfrm>
              <a:prstGeom prst="ellipse">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7C186D83-BB71-3B02-ADD6-ACE71EC81464}"/>
                  </a:ext>
                </a:extLst>
              </p:cNvPr>
              <p:cNvSpPr txBox="1"/>
              <p:nvPr/>
            </p:nvSpPr>
            <p:spPr>
              <a:xfrm>
                <a:off x="942153" y="1323798"/>
                <a:ext cx="434734" cy="341558"/>
              </a:xfrm>
              <a:prstGeom prst="rect">
                <a:avLst/>
              </a:prstGeom>
              <a:noFill/>
            </p:spPr>
            <p:txBody>
              <a:bodyPr wrap="square" rtlCol="0">
                <a:spAutoFit/>
              </a:bodyPr>
              <a:lstStyle/>
              <a:p>
                <a:r>
                  <a:rPr lang="en-US" sz="3200" dirty="0">
                    <a:solidFill>
                      <a:srgbClr val="FFFFFF"/>
                    </a:solidFill>
                  </a:rPr>
                  <a:t>02</a:t>
                </a:r>
              </a:p>
            </p:txBody>
          </p:sp>
        </p:grpSp>
        <p:grpSp>
          <p:nvGrpSpPr>
            <p:cNvPr id="42" name="Group 41">
              <a:extLst>
                <a:ext uri="{FF2B5EF4-FFF2-40B4-BE49-F238E27FC236}">
                  <a16:creationId xmlns:a16="http://schemas.microsoft.com/office/drawing/2014/main" id="{DA7E2080-BD8C-C763-6E9D-6AF1A1859BB4}"/>
                </a:ext>
              </a:extLst>
            </p:cNvPr>
            <p:cNvGrpSpPr/>
            <p:nvPr/>
          </p:nvGrpSpPr>
          <p:grpSpPr>
            <a:xfrm>
              <a:off x="6510840" y="4084290"/>
              <a:ext cx="913224" cy="920038"/>
              <a:chOff x="867433" y="1257135"/>
              <a:chExt cx="510431" cy="537380"/>
            </a:xfrm>
          </p:grpSpPr>
          <p:sp>
            <p:nvSpPr>
              <p:cNvPr id="43" name="Oval 42">
                <a:extLst>
                  <a:ext uri="{FF2B5EF4-FFF2-40B4-BE49-F238E27FC236}">
                    <a16:creationId xmlns:a16="http://schemas.microsoft.com/office/drawing/2014/main" id="{4D47CFE4-2FE9-29EC-FBB3-38A529EFA401}"/>
                  </a:ext>
                </a:extLst>
              </p:cNvPr>
              <p:cNvSpPr/>
              <p:nvPr/>
            </p:nvSpPr>
            <p:spPr>
              <a:xfrm>
                <a:off x="867433" y="1257135"/>
                <a:ext cx="510431" cy="537380"/>
              </a:xfrm>
              <a:prstGeom prst="ellipse">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A4561557-E506-CE18-8620-560105E4F644}"/>
                  </a:ext>
                </a:extLst>
              </p:cNvPr>
              <p:cNvSpPr txBox="1"/>
              <p:nvPr/>
            </p:nvSpPr>
            <p:spPr>
              <a:xfrm>
                <a:off x="943130" y="1326485"/>
                <a:ext cx="434734" cy="341558"/>
              </a:xfrm>
              <a:prstGeom prst="rect">
                <a:avLst/>
              </a:prstGeom>
              <a:noFill/>
            </p:spPr>
            <p:txBody>
              <a:bodyPr wrap="square" rtlCol="0">
                <a:spAutoFit/>
              </a:bodyPr>
              <a:lstStyle/>
              <a:p>
                <a:r>
                  <a:rPr lang="en-US" sz="3200" dirty="0">
                    <a:solidFill>
                      <a:srgbClr val="FFFFFF"/>
                    </a:solidFill>
                  </a:rPr>
                  <a:t>04</a:t>
                </a:r>
              </a:p>
            </p:txBody>
          </p:sp>
        </p:grpSp>
      </p:grpSp>
    </p:spTree>
    <p:extLst>
      <p:ext uri="{BB962C8B-B14F-4D97-AF65-F5344CB8AC3E}">
        <p14:creationId xmlns:p14="http://schemas.microsoft.com/office/powerpoint/2010/main" val="358885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anim calcmode="lin" valueType="num">
                                      <p:cBhvr>
                                        <p:cTn id="8" dur="1000" fill="hold"/>
                                        <p:tgtEl>
                                          <p:spTgt spid="45"/>
                                        </p:tgtEl>
                                        <p:attrNameLst>
                                          <p:attrName>ppt_x</p:attrName>
                                        </p:attrNameLst>
                                      </p:cBhvr>
                                      <p:tavLst>
                                        <p:tav tm="0">
                                          <p:val>
                                            <p:strVal val="#ppt_x"/>
                                          </p:val>
                                        </p:tav>
                                        <p:tav tm="100000">
                                          <p:val>
                                            <p:strVal val="#ppt_x"/>
                                          </p:val>
                                        </p:tav>
                                      </p:tavLst>
                                    </p:anim>
                                    <p:anim calcmode="lin" valueType="num">
                                      <p:cBhvr>
                                        <p:cTn id="9" dur="1000" fill="hold"/>
                                        <p:tgtEl>
                                          <p:spTgt spid="4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barn(outVertical)">
                                      <p:cBhvr>
                                        <p:cTn id="13" dur="500"/>
                                        <p:tgtEl>
                                          <p:spTgt spid="46"/>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heel(1)">
                                      <p:cBhvr>
                                        <p:cTn id="18" dur="750"/>
                                        <p:tgtEl>
                                          <p:spTgt spid="31"/>
                                        </p:tgtEl>
                                      </p:cBhvr>
                                    </p:animEffect>
                                  </p:childTnLst>
                                </p:cTn>
                              </p:par>
                              <p:par>
                                <p:cTn id="19" presetID="21" presetClass="entr" presetSubtype="1"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heel(1)">
                                      <p:cBhvr>
                                        <p:cTn id="21" dur="75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heel(1)">
                                      <p:cBhvr>
                                        <p:cTn id="26" dur="75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heel(1)">
                                      <p:cBhvr>
                                        <p:cTn id="31" dur="75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heel(1)">
                                      <p:cBhvr>
                                        <p:cTn id="36" dur="7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DBFAE014-9027-A545-27E4-33FC728BE526}"/>
              </a:ext>
            </a:extLst>
          </p:cNvPr>
          <p:cNvSpPr/>
          <p:nvPr/>
        </p:nvSpPr>
        <p:spPr>
          <a:xfrm>
            <a:off x="7298360" y="2084024"/>
            <a:ext cx="2309909" cy="207574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EC765FF9-EF18-C687-F875-C8C6FC6ABB0C}"/>
              </a:ext>
            </a:extLst>
          </p:cNvPr>
          <p:cNvSpPr txBox="1"/>
          <p:nvPr/>
        </p:nvSpPr>
        <p:spPr>
          <a:xfrm>
            <a:off x="4287520" y="105036"/>
            <a:ext cx="3616960" cy="707886"/>
          </a:xfrm>
          <a:prstGeom prst="rect">
            <a:avLst/>
          </a:prstGeom>
          <a:noFill/>
        </p:spPr>
        <p:txBody>
          <a:bodyPr wrap="square" rtlCol="0">
            <a:spAutoFit/>
          </a:bodyPr>
          <a:lstStyle/>
          <a:p>
            <a:pPr algn="ctr"/>
            <a:r>
              <a:rPr lang="en-US" sz="4000" dirty="0">
                <a:latin typeface="+mj-lt"/>
              </a:rPr>
              <a:t>Conclusion</a:t>
            </a:r>
          </a:p>
        </p:txBody>
      </p:sp>
      <p:cxnSp>
        <p:nvCxnSpPr>
          <p:cNvPr id="12" name="Straight Connector 11">
            <a:extLst>
              <a:ext uri="{FF2B5EF4-FFF2-40B4-BE49-F238E27FC236}">
                <a16:creationId xmlns:a16="http://schemas.microsoft.com/office/drawing/2014/main" id="{704B10A4-C6AC-2877-715A-DA5CF576D260}"/>
              </a:ext>
            </a:extLst>
          </p:cNvPr>
          <p:cNvCxnSpPr>
            <a:cxnSpLocks/>
          </p:cNvCxnSpPr>
          <p:nvPr/>
        </p:nvCxnSpPr>
        <p:spPr>
          <a:xfrm>
            <a:off x="867432" y="407428"/>
            <a:ext cx="36465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2505B1C-BD6E-ABCE-B7FB-2A39AE7F9BED}"/>
              </a:ext>
            </a:extLst>
          </p:cNvPr>
          <p:cNvCxnSpPr>
            <a:cxnSpLocks/>
          </p:cNvCxnSpPr>
          <p:nvPr/>
        </p:nvCxnSpPr>
        <p:spPr>
          <a:xfrm>
            <a:off x="7643102" y="422366"/>
            <a:ext cx="3646583"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61D7324-1D87-37B6-5607-91F1973B067D}"/>
              </a:ext>
            </a:extLst>
          </p:cNvPr>
          <p:cNvSpPr txBox="1"/>
          <p:nvPr/>
        </p:nvSpPr>
        <p:spPr>
          <a:xfrm>
            <a:off x="3270142" y="6113754"/>
            <a:ext cx="5641383" cy="461665"/>
          </a:xfrm>
          <a:prstGeom prst="rect">
            <a:avLst/>
          </a:prstGeom>
          <a:noFill/>
        </p:spPr>
        <p:txBody>
          <a:bodyPr wrap="square" rtlCol="0">
            <a:spAutoFit/>
          </a:bodyPr>
          <a:lstStyle/>
          <a:p>
            <a:pPr algn="ctr"/>
            <a:r>
              <a:rPr lang="en-US" sz="2400" u="sng" dirty="0">
                <a:latin typeface="+mj-lt"/>
              </a:rPr>
              <a:t>Thanks for listening </a:t>
            </a:r>
          </a:p>
        </p:txBody>
      </p:sp>
      <p:sp>
        <p:nvSpPr>
          <p:cNvPr id="5" name="Heart 4">
            <a:extLst>
              <a:ext uri="{FF2B5EF4-FFF2-40B4-BE49-F238E27FC236}">
                <a16:creationId xmlns:a16="http://schemas.microsoft.com/office/drawing/2014/main" id="{4831C03F-AC39-A937-8EBF-9AA91BA6F7EE}"/>
              </a:ext>
            </a:extLst>
          </p:cNvPr>
          <p:cNvSpPr/>
          <p:nvPr/>
        </p:nvSpPr>
        <p:spPr>
          <a:xfrm rot="18313441">
            <a:off x="3874159" y="6080032"/>
            <a:ext cx="537480" cy="529107"/>
          </a:xfrm>
          <a:prstGeom prst="hear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Heart 5">
            <a:extLst>
              <a:ext uri="{FF2B5EF4-FFF2-40B4-BE49-F238E27FC236}">
                <a16:creationId xmlns:a16="http://schemas.microsoft.com/office/drawing/2014/main" id="{274798A3-716D-BE15-4A48-980A03FCD3BF}"/>
              </a:ext>
            </a:extLst>
          </p:cNvPr>
          <p:cNvSpPr/>
          <p:nvPr/>
        </p:nvSpPr>
        <p:spPr>
          <a:xfrm rot="2644533">
            <a:off x="7786339" y="6080033"/>
            <a:ext cx="537480" cy="529107"/>
          </a:xfrm>
          <a:prstGeom prst="hear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一分钟了解情绪识别技术- 知乎">
            <a:extLst>
              <a:ext uri="{FF2B5EF4-FFF2-40B4-BE49-F238E27FC236}">
                <a16:creationId xmlns:a16="http://schemas.microsoft.com/office/drawing/2014/main" id="{83224CB9-5BE5-884C-CDA6-C54AC2DFEF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047" b="66911"/>
          <a:stretch/>
        </p:blipFill>
        <p:spPr bwMode="auto">
          <a:xfrm rot="20922291">
            <a:off x="367442" y="5883854"/>
            <a:ext cx="931215" cy="9214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一分钟了解情绪识别技术- 知乎">
            <a:extLst>
              <a:ext uri="{FF2B5EF4-FFF2-40B4-BE49-F238E27FC236}">
                <a16:creationId xmlns:a16="http://schemas.microsoft.com/office/drawing/2014/main" id="{10465350-A7FB-40F7-9878-1950011DCC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483" t="66911" r="33564"/>
          <a:stretch/>
        </p:blipFill>
        <p:spPr bwMode="auto">
          <a:xfrm>
            <a:off x="10824077" y="5795246"/>
            <a:ext cx="931215" cy="921461"/>
          </a:xfrm>
          <a:prstGeom prst="rect">
            <a:avLst/>
          </a:prstGeom>
          <a:noFill/>
          <a:extLst>
            <a:ext uri="{909E8E84-426E-40DD-AFC4-6F175D3DCCD1}">
              <a14:hiddenFill xmlns:a14="http://schemas.microsoft.com/office/drawing/2010/main">
                <a:solidFill>
                  <a:srgbClr val="FFFFFF"/>
                </a:solidFill>
              </a14:hiddenFill>
            </a:ext>
          </a:extLst>
        </p:spPr>
      </p:pic>
      <p:sp>
        <p:nvSpPr>
          <p:cNvPr id="23" name="Arrow: Curved Down 22">
            <a:extLst>
              <a:ext uri="{FF2B5EF4-FFF2-40B4-BE49-F238E27FC236}">
                <a16:creationId xmlns:a16="http://schemas.microsoft.com/office/drawing/2014/main" id="{92455B5C-5E75-9F1A-7700-91B0EF5F2A42}"/>
              </a:ext>
            </a:extLst>
          </p:cNvPr>
          <p:cNvSpPr/>
          <p:nvPr/>
        </p:nvSpPr>
        <p:spPr>
          <a:xfrm rot="20039156">
            <a:off x="1307482" y="2281711"/>
            <a:ext cx="1954899" cy="738046"/>
          </a:xfrm>
          <a:prstGeom prst="curvedDownArrow">
            <a:avLst>
              <a:gd name="adj1" fmla="val 25000"/>
              <a:gd name="adj2" fmla="val 79468"/>
              <a:gd name="adj3" fmla="val 5805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solidFill>
                <a:schemeClr val="tx1"/>
              </a:solidFill>
            </a:endParaRPr>
          </a:p>
        </p:txBody>
      </p:sp>
      <p:sp>
        <p:nvSpPr>
          <p:cNvPr id="24" name="Arrow: Curved Down 23">
            <a:extLst>
              <a:ext uri="{FF2B5EF4-FFF2-40B4-BE49-F238E27FC236}">
                <a16:creationId xmlns:a16="http://schemas.microsoft.com/office/drawing/2014/main" id="{41D35A21-B473-E31C-0C63-B39971CA2DE8}"/>
              </a:ext>
            </a:extLst>
          </p:cNvPr>
          <p:cNvSpPr/>
          <p:nvPr/>
        </p:nvSpPr>
        <p:spPr>
          <a:xfrm rot="20039156">
            <a:off x="3657494" y="1789471"/>
            <a:ext cx="1954899" cy="738046"/>
          </a:xfrm>
          <a:prstGeom prst="curvedDownArrow">
            <a:avLst>
              <a:gd name="adj1" fmla="val 25000"/>
              <a:gd name="adj2" fmla="val 79468"/>
              <a:gd name="adj3" fmla="val 5805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solidFill>
                <a:schemeClr val="tx1"/>
              </a:solidFill>
            </a:endParaRPr>
          </a:p>
        </p:txBody>
      </p:sp>
      <p:sp>
        <p:nvSpPr>
          <p:cNvPr id="25" name="Arrow: Curved Down 24">
            <a:extLst>
              <a:ext uri="{FF2B5EF4-FFF2-40B4-BE49-F238E27FC236}">
                <a16:creationId xmlns:a16="http://schemas.microsoft.com/office/drawing/2014/main" id="{BD13BAD9-7D71-783E-0916-01A78F7F9E46}"/>
              </a:ext>
            </a:extLst>
          </p:cNvPr>
          <p:cNvSpPr/>
          <p:nvPr/>
        </p:nvSpPr>
        <p:spPr>
          <a:xfrm rot="20039156">
            <a:off x="6143894" y="1238498"/>
            <a:ext cx="1954899" cy="738046"/>
          </a:xfrm>
          <a:prstGeom prst="curvedDownArrow">
            <a:avLst>
              <a:gd name="adj1" fmla="val 25000"/>
              <a:gd name="adj2" fmla="val 79468"/>
              <a:gd name="adj3" fmla="val 5805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solidFill>
                <a:schemeClr val="tx1"/>
              </a:solidFill>
            </a:endParaRPr>
          </a:p>
        </p:txBody>
      </p:sp>
      <p:sp>
        <p:nvSpPr>
          <p:cNvPr id="26" name="Arrow: Curved Down 25">
            <a:extLst>
              <a:ext uri="{FF2B5EF4-FFF2-40B4-BE49-F238E27FC236}">
                <a16:creationId xmlns:a16="http://schemas.microsoft.com/office/drawing/2014/main" id="{4B72DEF3-F1B7-7EDC-05F6-BEF407957132}"/>
              </a:ext>
            </a:extLst>
          </p:cNvPr>
          <p:cNvSpPr/>
          <p:nvPr/>
        </p:nvSpPr>
        <p:spPr>
          <a:xfrm rot="20039156">
            <a:off x="8656698" y="761037"/>
            <a:ext cx="1954899" cy="738046"/>
          </a:xfrm>
          <a:prstGeom prst="curvedDownArrow">
            <a:avLst>
              <a:gd name="adj1" fmla="val 25000"/>
              <a:gd name="adj2" fmla="val 79468"/>
              <a:gd name="adj3" fmla="val 5805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solidFill>
                <a:schemeClr val="tx1"/>
              </a:solidFill>
            </a:endParaRPr>
          </a:p>
        </p:txBody>
      </p:sp>
      <p:sp>
        <p:nvSpPr>
          <p:cNvPr id="43" name="Rectangle: Rounded Corners 42">
            <a:extLst>
              <a:ext uri="{FF2B5EF4-FFF2-40B4-BE49-F238E27FC236}">
                <a16:creationId xmlns:a16="http://schemas.microsoft.com/office/drawing/2014/main" id="{178F0B88-47C3-9906-C39C-8A63BB8246A5}"/>
              </a:ext>
            </a:extLst>
          </p:cNvPr>
          <p:cNvSpPr/>
          <p:nvPr/>
        </p:nvSpPr>
        <p:spPr>
          <a:xfrm>
            <a:off x="9660022" y="1506970"/>
            <a:ext cx="2354580" cy="2161581"/>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57B3EDC0-F395-17DE-3C5F-603EA636BA92}"/>
              </a:ext>
            </a:extLst>
          </p:cNvPr>
          <p:cNvSpPr txBox="1"/>
          <p:nvPr/>
        </p:nvSpPr>
        <p:spPr>
          <a:xfrm>
            <a:off x="9556517" y="1607521"/>
            <a:ext cx="2589059" cy="1923604"/>
          </a:xfrm>
          <a:prstGeom prst="rect">
            <a:avLst/>
          </a:prstGeom>
          <a:noFill/>
        </p:spPr>
        <p:txBody>
          <a:bodyPr wrap="square" rtlCol="0">
            <a:spAutoFit/>
          </a:bodyPr>
          <a:lstStyle/>
          <a:p>
            <a:pPr algn="ctr"/>
            <a:r>
              <a:rPr lang="en-US" sz="1700" dirty="0">
                <a:solidFill>
                  <a:srgbClr val="FFFFFF"/>
                </a:solidFill>
              </a:rPr>
              <a:t>In the future, will developing models capable of handling diverse datasets &amp; enhance the recognition of subtle and complex emotions. </a:t>
            </a:r>
          </a:p>
        </p:txBody>
      </p:sp>
      <p:sp>
        <p:nvSpPr>
          <p:cNvPr id="30" name="TextBox 29">
            <a:extLst>
              <a:ext uri="{FF2B5EF4-FFF2-40B4-BE49-F238E27FC236}">
                <a16:creationId xmlns:a16="http://schemas.microsoft.com/office/drawing/2014/main" id="{1F464952-D45E-A8C1-3917-AAE89CF7CC29}"/>
              </a:ext>
            </a:extLst>
          </p:cNvPr>
          <p:cNvSpPr txBox="1"/>
          <p:nvPr/>
        </p:nvSpPr>
        <p:spPr>
          <a:xfrm>
            <a:off x="7321978" y="2405055"/>
            <a:ext cx="2234539" cy="1200329"/>
          </a:xfrm>
          <a:prstGeom prst="rect">
            <a:avLst/>
          </a:prstGeom>
          <a:noFill/>
        </p:spPr>
        <p:txBody>
          <a:bodyPr wrap="square" rtlCol="0">
            <a:spAutoFit/>
          </a:bodyPr>
          <a:lstStyle/>
          <a:p>
            <a:pPr algn="ctr"/>
            <a:r>
              <a:rPr lang="en-US" sz="2000" dirty="0">
                <a:solidFill>
                  <a:srgbClr val="FFFFFF"/>
                </a:solidFill>
              </a:rPr>
              <a:t>Final accuracy of</a:t>
            </a:r>
          </a:p>
          <a:p>
            <a:pPr algn="ctr"/>
            <a:r>
              <a:rPr lang="en-US" sz="2000" dirty="0">
                <a:solidFill>
                  <a:srgbClr val="FFFFFF"/>
                </a:solidFill>
              </a:rPr>
              <a:t> </a:t>
            </a:r>
          </a:p>
          <a:p>
            <a:pPr algn="ctr"/>
            <a:r>
              <a:rPr lang="en-US" sz="3200" dirty="0">
                <a:solidFill>
                  <a:srgbClr val="FFFF00"/>
                </a:solidFill>
              </a:rPr>
              <a:t>69.57%</a:t>
            </a:r>
            <a:endParaRPr lang="en-US" dirty="0">
              <a:solidFill>
                <a:srgbClr val="FFFF00"/>
              </a:solidFill>
            </a:endParaRPr>
          </a:p>
        </p:txBody>
      </p:sp>
      <p:sp>
        <p:nvSpPr>
          <p:cNvPr id="52" name="Rectangle: Rounded Corners 51">
            <a:extLst>
              <a:ext uri="{FF2B5EF4-FFF2-40B4-BE49-F238E27FC236}">
                <a16:creationId xmlns:a16="http://schemas.microsoft.com/office/drawing/2014/main" id="{857030B9-6243-A5B9-8818-9FE2CD462545}"/>
              </a:ext>
            </a:extLst>
          </p:cNvPr>
          <p:cNvSpPr/>
          <p:nvPr/>
        </p:nvSpPr>
        <p:spPr>
          <a:xfrm>
            <a:off x="4933069" y="2545051"/>
            <a:ext cx="2309909" cy="207574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53" name="Rectangle: Rounded Corners 52">
            <a:extLst>
              <a:ext uri="{FF2B5EF4-FFF2-40B4-BE49-F238E27FC236}">
                <a16:creationId xmlns:a16="http://schemas.microsoft.com/office/drawing/2014/main" id="{EF3FA0C0-F582-EE4E-8BC3-76A8FF6DF602}"/>
              </a:ext>
            </a:extLst>
          </p:cNvPr>
          <p:cNvSpPr/>
          <p:nvPr/>
        </p:nvSpPr>
        <p:spPr>
          <a:xfrm>
            <a:off x="2536306" y="3027609"/>
            <a:ext cx="2309909" cy="207574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858023B-6B92-AB3C-2717-295C6931A9BA}"/>
              </a:ext>
            </a:extLst>
          </p:cNvPr>
          <p:cNvSpPr txBox="1"/>
          <p:nvPr/>
        </p:nvSpPr>
        <p:spPr>
          <a:xfrm>
            <a:off x="2543677" y="3106232"/>
            <a:ext cx="2309909" cy="1938992"/>
          </a:xfrm>
          <a:prstGeom prst="rect">
            <a:avLst/>
          </a:prstGeom>
          <a:noFill/>
        </p:spPr>
        <p:txBody>
          <a:bodyPr wrap="square" rtlCol="0">
            <a:spAutoFit/>
          </a:bodyPr>
          <a:lstStyle/>
          <a:p>
            <a:pPr algn="ctr"/>
            <a:r>
              <a:rPr lang="en-US" sz="2000" dirty="0">
                <a:solidFill>
                  <a:srgbClr val="FFFFFF"/>
                </a:solidFill>
              </a:rPr>
              <a:t>Confusion matrix &amp; classification report are used to predict and evaluate the model.</a:t>
            </a:r>
          </a:p>
        </p:txBody>
      </p:sp>
      <p:sp>
        <p:nvSpPr>
          <p:cNvPr id="54" name="Rectangle: Rounded Corners 53">
            <a:extLst>
              <a:ext uri="{FF2B5EF4-FFF2-40B4-BE49-F238E27FC236}">
                <a16:creationId xmlns:a16="http://schemas.microsoft.com/office/drawing/2014/main" id="{EE06DE1A-44EF-1A92-F9EC-0AB36320E898}"/>
              </a:ext>
            </a:extLst>
          </p:cNvPr>
          <p:cNvSpPr/>
          <p:nvPr/>
        </p:nvSpPr>
        <p:spPr>
          <a:xfrm>
            <a:off x="144357" y="3522661"/>
            <a:ext cx="2309909" cy="207574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A425F4E5-2798-2AF8-1DA7-5C1051E87907}"/>
              </a:ext>
            </a:extLst>
          </p:cNvPr>
          <p:cNvSpPr txBox="1"/>
          <p:nvPr/>
        </p:nvSpPr>
        <p:spPr>
          <a:xfrm>
            <a:off x="134518" y="3522661"/>
            <a:ext cx="2374097" cy="2123658"/>
          </a:xfrm>
          <a:prstGeom prst="rect">
            <a:avLst/>
          </a:prstGeom>
          <a:noFill/>
        </p:spPr>
        <p:txBody>
          <a:bodyPr wrap="square" rtlCol="0">
            <a:spAutoFit/>
          </a:bodyPr>
          <a:lstStyle/>
          <a:p>
            <a:pPr algn="ctr"/>
            <a:r>
              <a:rPr lang="en-US" sz="2200" dirty="0">
                <a:solidFill>
                  <a:srgbClr val="FFFFFF"/>
                </a:solidFill>
              </a:rPr>
              <a:t>Trained on the images dataset to identify human facial expressions using CNNs. </a:t>
            </a:r>
          </a:p>
        </p:txBody>
      </p:sp>
      <p:grpSp>
        <p:nvGrpSpPr>
          <p:cNvPr id="57" name="Group 56">
            <a:extLst>
              <a:ext uri="{FF2B5EF4-FFF2-40B4-BE49-F238E27FC236}">
                <a16:creationId xmlns:a16="http://schemas.microsoft.com/office/drawing/2014/main" id="{D589DD90-AA41-FF16-8731-D75D643C3641}"/>
              </a:ext>
            </a:extLst>
          </p:cNvPr>
          <p:cNvGrpSpPr/>
          <p:nvPr/>
        </p:nvGrpSpPr>
        <p:grpSpPr>
          <a:xfrm>
            <a:off x="5018764" y="2561485"/>
            <a:ext cx="2429476" cy="1077218"/>
            <a:chOff x="5018764" y="2561485"/>
            <a:chExt cx="2429476" cy="1077218"/>
          </a:xfrm>
        </p:grpSpPr>
        <p:sp>
          <p:nvSpPr>
            <p:cNvPr id="29" name="TextBox 28">
              <a:extLst>
                <a:ext uri="{FF2B5EF4-FFF2-40B4-BE49-F238E27FC236}">
                  <a16:creationId xmlns:a16="http://schemas.microsoft.com/office/drawing/2014/main" id="{9F9019FF-67FB-6FE5-F000-E52457B942BB}"/>
                </a:ext>
              </a:extLst>
            </p:cNvPr>
            <p:cNvSpPr txBox="1"/>
            <p:nvPr/>
          </p:nvSpPr>
          <p:spPr>
            <a:xfrm>
              <a:off x="5329679" y="2561485"/>
              <a:ext cx="2118561" cy="1077218"/>
            </a:xfrm>
            <a:prstGeom prst="rect">
              <a:avLst/>
            </a:prstGeom>
            <a:noFill/>
          </p:spPr>
          <p:txBody>
            <a:bodyPr wrap="square" rtlCol="0">
              <a:spAutoFit/>
            </a:bodyPr>
            <a:lstStyle/>
            <a:p>
              <a:r>
                <a:rPr lang="en-US" sz="1600" dirty="0">
                  <a:solidFill>
                    <a:srgbClr val="FFFFFF"/>
                  </a:solidFill>
                </a:rPr>
                <a:t> “Contempt” , “Happy” “Neutral” </a:t>
              </a:r>
            </a:p>
            <a:p>
              <a:r>
                <a:rPr lang="en-US" sz="1600" dirty="0">
                  <a:solidFill>
                    <a:srgbClr val="FFFFFF"/>
                  </a:solidFill>
                </a:rPr>
                <a:t>“Sad” and “Surprised.</a:t>
              </a:r>
              <a:endParaRPr lang="en-US" altLang="zh-CN" sz="1600" dirty="0">
                <a:solidFill>
                  <a:srgbClr val="FFFFFF"/>
                </a:solidFill>
              </a:endParaRPr>
            </a:p>
          </p:txBody>
        </p:sp>
        <p:pic>
          <p:nvPicPr>
            <p:cNvPr id="1032" name="Picture 8" descr="点赞-绿色图标免费下载-图标0yPqWgVaa-新图网">
              <a:extLst>
                <a:ext uri="{FF2B5EF4-FFF2-40B4-BE49-F238E27FC236}">
                  <a16:creationId xmlns:a16="http://schemas.microsoft.com/office/drawing/2014/main" id="{E9065F78-0B21-8742-D1D5-D9CFA1A5D9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8764" y="2657437"/>
              <a:ext cx="407555" cy="40755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8" name="Group 57">
            <a:extLst>
              <a:ext uri="{FF2B5EF4-FFF2-40B4-BE49-F238E27FC236}">
                <a16:creationId xmlns:a16="http://schemas.microsoft.com/office/drawing/2014/main" id="{E669E1F4-AB03-6F72-9D7B-F8B0E3372A29}"/>
              </a:ext>
            </a:extLst>
          </p:cNvPr>
          <p:cNvGrpSpPr/>
          <p:nvPr/>
        </p:nvGrpSpPr>
        <p:grpSpPr>
          <a:xfrm>
            <a:off x="5032578" y="3381845"/>
            <a:ext cx="2057630" cy="1200329"/>
            <a:chOff x="5032578" y="3381845"/>
            <a:chExt cx="2057630" cy="1200329"/>
          </a:xfrm>
        </p:grpSpPr>
        <p:sp>
          <p:nvSpPr>
            <p:cNvPr id="56" name="TextBox 55">
              <a:extLst>
                <a:ext uri="{FF2B5EF4-FFF2-40B4-BE49-F238E27FC236}">
                  <a16:creationId xmlns:a16="http://schemas.microsoft.com/office/drawing/2014/main" id="{393C8043-3412-E1C4-D03D-A5DB0055E8C1}"/>
                </a:ext>
              </a:extLst>
            </p:cNvPr>
            <p:cNvSpPr txBox="1"/>
            <p:nvPr/>
          </p:nvSpPr>
          <p:spPr>
            <a:xfrm>
              <a:off x="5406768" y="3381845"/>
              <a:ext cx="1683440" cy="1200329"/>
            </a:xfrm>
            <a:prstGeom prst="rect">
              <a:avLst/>
            </a:prstGeom>
            <a:noFill/>
          </p:spPr>
          <p:txBody>
            <a:bodyPr wrap="square">
              <a:spAutoFit/>
            </a:bodyPr>
            <a:lstStyle/>
            <a:p>
              <a:endParaRPr lang="en-US" dirty="0">
                <a:solidFill>
                  <a:srgbClr val="FFFFFF"/>
                </a:solidFill>
              </a:endParaRPr>
            </a:p>
            <a:p>
              <a:r>
                <a:rPr lang="en-US" dirty="0">
                  <a:solidFill>
                    <a:srgbClr val="FFFFFF"/>
                  </a:solidFill>
                </a:rPr>
                <a:t>“Fear”  challenges for the model.</a:t>
              </a:r>
            </a:p>
          </p:txBody>
        </p:sp>
        <p:pic>
          <p:nvPicPr>
            <p:cNvPr id="1034" name="Picture 10" descr="不点赞踩差评图标免费下载-图标m-lfoplqyfn-新图网">
              <a:extLst>
                <a:ext uri="{FF2B5EF4-FFF2-40B4-BE49-F238E27FC236}">
                  <a16:creationId xmlns:a16="http://schemas.microsoft.com/office/drawing/2014/main" id="{F0B95AA2-6A37-F7FE-D128-1A5BB05EB3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2578" y="3725984"/>
              <a:ext cx="346499" cy="34649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0591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up)">
                                      <p:cBhvr>
                                        <p:cTn id="7" dur="500"/>
                                        <p:tgtEl>
                                          <p:spTgt spid="27">
                                            <p:txEl>
                                              <p:pRg st="0" end="0"/>
                                            </p:txEl>
                                          </p:spTgt>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1000"/>
                                        <p:tgtEl>
                                          <p:spTgt spid="23"/>
                                        </p:tgtEl>
                                      </p:cBhvr>
                                    </p:animEffect>
                                    <p:anim calcmode="lin" valueType="num">
                                      <p:cBhvr>
                                        <p:cTn id="12" dur="1000" fill="hold"/>
                                        <p:tgtEl>
                                          <p:spTgt spid="23"/>
                                        </p:tgtEl>
                                        <p:attrNameLst>
                                          <p:attrName>ppt_x</p:attrName>
                                        </p:attrNameLst>
                                      </p:cBhvr>
                                      <p:tavLst>
                                        <p:tav tm="0">
                                          <p:val>
                                            <p:strVal val="#ppt_x"/>
                                          </p:val>
                                        </p:tav>
                                        <p:tav tm="100000">
                                          <p:val>
                                            <p:strVal val="#ppt_x"/>
                                          </p:val>
                                        </p:tav>
                                      </p:tavLst>
                                    </p:anim>
                                    <p:anim calcmode="lin" valueType="num">
                                      <p:cBhvr>
                                        <p:cTn id="13" dur="1000" fill="hold"/>
                                        <p:tgtEl>
                                          <p:spTgt spid="23"/>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22" presetClass="entr" presetSubtype="1"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1000"/>
                                        <p:tgtEl>
                                          <p:spTgt spid="28"/>
                                        </p:tgtEl>
                                      </p:cBhvr>
                                    </p:animEffect>
                                  </p:childTnLst>
                                </p:cTn>
                              </p:par>
                            </p:childTnLst>
                          </p:cTn>
                        </p:par>
                        <p:par>
                          <p:cTn id="18" fill="hold">
                            <p:stCondLst>
                              <p:cond delay="2500"/>
                            </p:stCondLst>
                            <p:childTnLst>
                              <p:par>
                                <p:cTn id="19" presetID="47" presetClass="entr" presetSubtype="0"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anim calcmode="lin" valueType="num">
                                      <p:cBhvr>
                                        <p:cTn id="22" dur="1000" fill="hold"/>
                                        <p:tgtEl>
                                          <p:spTgt spid="24"/>
                                        </p:tgtEl>
                                        <p:attrNameLst>
                                          <p:attrName>ppt_x</p:attrName>
                                        </p:attrNameLst>
                                      </p:cBhvr>
                                      <p:tavLst>
                                        <p:tav tm="0">
                                          <p:val>
                                            <p:strVal val="#ppt_x"/>
                                          </p:val>
                                        </p:tav>
                                        <p:tav tm="100000">
                                          <p:val>
                                            <p:strVal val="#ppt_x"/>
                                          </p:val>
                                        </p:tav>
                                      </p:tavLst>
                                    </p:anim>
                                    <p:anim calcmode="lin" valueType="num">
                                      <p:cBhvr>
                                        <p:cTn id="23" dur="1000" fill="hold"/>
                                        <p:tgtEl>
                                          <p:spTgt spid="24"/>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22" presetClass="entr" presetSubtype="1" fill="hold"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up)">
                                      <p:cBhvr>
                                        <p:cTn id="27" dur="1000"/>
                                        <p:tgtEl>
                                          <p:spTgt spid="57"/>
                                        </p:tgtEl>
                                      </p:cBhvr>
                                    </p:animEffect>
                                  </p:childTnLst>
                                </p:cTn>
                              </p:par>
                              <p:par>
                                <p:cTn id="28" presetID="22" presetClass="entr" presetSubtype="1" fill="hold" nodeType="with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wipe(up)">
                                      <p:cBhvr>
                                        <p:cTn id="30" dur="1000"/>
                                        <p:tgtEl>
                                          <p:spTgt spid="58"/>
                                        </p:tgtEl>
                                      </p:cBhvr>
                                    </p:animEffect>
                                  </p:childTnLst>
                                </p:cTn>
                              </p:par>
                            </p:childTnLst>
                          </p:cTn>
                        </p:par>
                        <p:par>
                          <p:cTn id="31" fill="hold">
                            <p:stCondLst>
                              <p:cond delay="4500"/>
                            </p:stCondLst>
                            <p:childTnLst>
                              <p:par>
                                <p:cTn id="32" presetID="47" presetClass="entr" presetSubtype="0"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childTnLst>
                          </p:cTn>
                        </p:par>
                        <p:par>
                          <p:cTn id="37" fill="hold">
                            <p:stCondLst>
                              <p:cond delay="5500"/>
                            </p:stCondLst>
                            <p:childTnLst>
                              <p:par>
                                <p:cTn id="38" presetID="22" presetClass="entr" presetSubtype="8"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left)">
                                      <p:cBhvr>
                                        <p:cTn id="40" dur="1000"/>
                                        <p:tgtEl>
                                          <p:spTgt spid="30"/>
                                        </p:tgtEl>
                                      </p:cBhvr>
                                    </p:animEffect>
                                  </p:childTnLst>
                                </p:cTn>
                              </p:par>
                            </p:childTnLst>
                          </p:cTn>
                        </p:par>
                        <p:par>
                          <p:cTn id="41" fill="hold">
                            <p:stCondLst>
                              <p:cond delay="6500"/>
                            </p:stCondLst>
                            <p:childTnLst>
                              <p:par>
                                <p:cTn id="42" presetID="47" presetClass="entr" presetSubtype="0"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1000"/>
                                        <p:tgtEl>
                                          <p:spTgt spid="26"/>
                                        </p:tgtEl>
                                      </p:cBhvr>
                                    </p:animEffect>
                                    <p:anim calcmode="lin" valueType="num">
                                      <p:cBhvr>
                                        <p:cTn id="45" dur="1000" fill="hold"/>
                                        <p:tgtEl>
                                          <p:spTgt spid="26"/>
                                        </p:tgtEl>
                                        <p:attrNameLst>
                                          <p:attrName>ppt_x</p:attrName>
                                        </p:attrNameLst>
                                      </p:cBhvr>
                                      <p:tavLst>
                                        <p:tav tm="0">
                                          <p:val>
                                            <p:strVal val="#ppt_x"/>
                                          </p:val>
                                        </p:tav>
                                        <p:tav tm="100000">
                                          <p:val>
                                            <p:strVal val="#ppt_x"/>
                                          </p:val>
                                        </p:tav>
                                      </p:tavLst>
                                    </p:anim>
                                    <p:anim calcmode="lin" valueType="num">
                                      <p:cBhvr>
                                        <p:cTn id="46" dur="1000" fill="hold"/>
                                        <p:tgtEl>
                                          <p:spTgt spid="26"/>
                                        </p:tgtEl>
                                        <p:attrNameLst>
                                          <p:attrName>ppt_y</p:attrName>
                                        </p:attrNameLst>
                                      </p:cBhvr>
                                      <p:tavLst>
                                        <p:tav tm="0">
                                          <p:val>
                                            <p:strVal val="#ppt_y-.1"/>
                                          </p:val>
                                        </p:tav>
                                        <p:tav tm="100000">
                                          <p:val>
                                            <p:strVal val="#ppt_y"/>
                                          </p:val>
                                        </p:tav>
                                      </p:tavLst>
                                    </p:anim>
                                  </p:childTnLst>
                                </p:cTn>
                              </p:par>
                            </p:childTnLst>
                          </p:cTn>
                        </p:par>
                        <p:par>
                          <p:cTn id="47" fill="hold">
                            <p:stCondLst>
                              <p:cond delay="7500"/>
                            </p:stCondLst>
                            <p:childTnLst>
                              <p:par>
                                <p:cTn id="48" presetID="22" presetClass="entr" presetSubtype="1" fill="hold" grpId="0" nodeType="after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up)">
                                      <p:cBhvr>
                                        <p:cTn id="5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31" grpId="0"/>
      <p:bldP spid="30" grpId="0"/>
      <p:bldP spid="28" grpId="0"/>
      <p:bldP spid="27" grpId="0" build="p"/>
    </p:bldLst>
  </p:timing>
</p:sld>
</file>

<file path=ppt/theme/theme1.xml><?xml version="1.0" encoding="utf-8"?>
<a:theme xmlns:a="http://schemas.openxmlformats.org/drawingml/2006/main" name="Office Theme">
  <a:themeElements>
    <a:clrScheme name="Custom 3">
      <a:dk1>
        <a:srgbClr val="4D94D8"/>
      </a:dk1>
      <a:lt1>
        <a:srgbClr val="4D94D8"/>
      </a:lt1>
      <a:dk2>
        <a:srgbClr val="A6C9EB"/>
      </a:dk2>
      <a:lt2>
        <a:srgbClr val="A6C9EB"/>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Amasis MT Pro Black"/>
        <a:ea typeface="等线 Light"/>
        <a:cs typeface=""/>
      </a:majorFont>
      <a:minorFont>
        <a:latin typeface="Amasis MT Pro Medium"/>
        <a:ea typeface="等线"/>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A2FDE4BB0E9241938A805A68F01967" ma:contentTypeVersion="9" ma:contentTypeDescription="Create a new document." ma:contentTypeScope="" ma:versionID="ae26153929cec9d6060112714c69a969">
  <xsd:schema xmlns:xsd="http://www.w3.org/2001/XMLSchema" xmlns:xs="http://www.w3.org/2001/XMLSchema" xmlns:p="http://schemas.microsoft.com/office/2006/metadata/properties" xmlns:ns3="7244191f-ca08-4102-b6e1-3b61ee896c4e" xmlns:ns4="f8730a60-4e69-449c-9802-7ea17a3c9767" targetNamespace="http://schemas.microsoft.com/office/2006/metadata/properties" ma:root="true" ma:fieldsID="ae04ee33a5ac5be46c3d5a3f5ee4e88b" ns3:_="" ns4:_="">
    <xsd:import namespace="7244191f-ca08-4102-b6e1-3b61ee896c4e"/>
    <xsd:import namespace="f8730a60-4e69-449c-9802-7ea17a3c976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44191f-ca08-4102-b6e1-3b61ee896c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730a60-4e69-449c-9802-7ea17a3c9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7244191f-ca08-4102-b6e1-3b61ee896c4e" xsi:nil="true"/>
  </documentManagement>
</p:properties>
</file>

<file path=customXml/itemProps1.xml><?xml version="1.0" encoding="utf-8"?>
<ds:datastoreItem xmlns:ds="http://schemas.openxmlformats.org/officeDocument/2006/customXml" ds:itemID="{E907CCCB-F2BC-497C-8F76-A1AF54DFEE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44191f-ca08-4102-b6e1-3b61ee896c4e"/>
    <ds:schemaRef ds:uri="f8730a60-4e69-449c-9802-7ea17a3c97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8EF55D-38BD-4F1F-9C7A-7DAAFE9171B8}">
  <ds:schemaRefs>
    <ds:schemaRef ds:uri="http://schemas.microsoft.com/sharepoint/v3/contenttype/forms"/>
  </ds:schemaRefs>
</ds:datastoreItem>
</file>

<file path=customXml/itemProps3.xml><?xml version="1.0" encoding="utf-8"?>
<ds:datastoreItem xmlns:ds="http://schemas.openxmlformats.org/officeDocument/2006/customXml" ds:itemID="{06359EC2-F13E-42F8-B4C1-365D4AA9E7EC}">
  <ds:schemaRefs>
    <ds:schemaRef ds:uri="http://schemas.microsoft.com/office/2006/documentManagement/types"/>
    <ds:schemaRef ds:uri="http://purl.org/dc/elements/1.1/"/>
    <ds:schemaRef ds:uri="http://purl.org/dc/terms/"/>
    <ds:schemaRef ds:uri="http://www.w3.org/XML/1998/namespace"/>
    <ds:schemaRef ds:uri="http://schemas.openxmlformats.org/package/2006/metadata/core-properties"/>
    <ds:schemaRef ds:uri="http://purl.org/dc/dcmitype/"/>
    <ds:schemaRef ds:uri="f8730a60-4e69-449c-9802-7ea17a3c9767"/>
    <ds:schemaRef ds:uri="http://schemas.microsoft.com/office/infopath/2007/PartnerControls"/>
    <ds:schemaRef ds:uri="7244191f-ca08-4102-b6e1-3b61ee896c4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2380</TotalTime>
  <Words>687</Words>
  <Application>Microsoft Office PowerPoint</Application>
  <PresentationFormat>Widescreen</PresentationFormat>
  <Paragraphs>81</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Amasis MT Pro Medium (Body)</vt:lpstr>
      <vt:lpstr>DengXian</vt:lpstr>
      <vt:lpstr>Amasis MT Pro Black</vt:lpstr>
      <vt:lpstr>Amasis MT Pro Medium</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SHAHD MOHAMED AHMED HAZBER</dc:creator>
  <cp:lastModifiedBy>SHAHD MOHAMED AHMED HAZBER</cp:lastModifiedBy>
  <cp:revision>15</cp:revision>
  <dcterms:created xsi:type="dcterms:W3CDTF">2025-04-25T07:59:04Z</dcterms:created>
  <dcterms:modified xsi:type="dcterms:W3CDTF">2025-05-10T09:07:39Z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0x010100A2A2FDE4BB0E9241938A805A68F01967</vt:lpwstr>
  </property>
</Properties>
</file>